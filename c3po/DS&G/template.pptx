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2"/>
  </p:notesMasterIdLst>
  <p:sldIdLst>
    <p:sldId id="2147483609" r:id="rId5"/>
    <p:sldId id="2147483610" r:id="rId6"/>
    <p:sldId id="2147483612" r:id="rId7"/>
    <p:sldId id="2147483613" r:id="rId8"/>
    <p:sldId id="2147483614" r:id="rId9"/>
    <p:sldId id="2147483615" r:id="rId10"/>
    <p:sldId id="2147483616" r:id="rId11"/>
    <p:sldId id="2147483611" r:id="rId12"/>
    <p:sldId id="2147483618" r:id="rId13"/>
    <p:sldId id="2147483619" r:id="rId14"/>
    <p:sldId id="2147483626" r:id="rId15"/>
    <p:sldId id="2147483620" r:id="rId16"/>
    <p:sldId id="2147483621" r:id="rId17"/>
    <p:sldId id="2147483622" r:id="rId18"/>
    <p:sldId id="2147483627" r:id="rId19"/>
    <p:sldId id="2147483629" r:id="rId20"/>
    <p:sldId id="2147483630" r:id="rId21"/>
  </p:sldIdLst>
  <p:sldSz cx="12192000" cy="6858000"/>
  <p:notesSz cx="7010400" cy="9296400"/>
  <p:embeddedFontLst>
    <p:embeddedFont>
      <p:font typeface="Arial Black" panose="020B0604020202020204" pitchFamily="34" charset="0"/>
      <p:bold r:id="rId23"/>
    </p:embeddedFont>
    <p:embeddedFont>
      <p:font typeface="Proxima Nova" panose="02000506030000020004" pitchFamily="2" charset="0"/>
      <p:regular r:id="rId24"/>
      <p:bold r:id="rId25"/>
      <p:italic r:id="rId26"/>
      <p:boldItalic r:id="rId27"/>
    </p:embeddedFont>
    <p:embeddedFont>
      <p:font typeface="Trebuchet MS" panose="020B070302020209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1" roundtripDataSignature="AMtx7mgKIDiBwvDbRhG/V6mW1YoVU2XlU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1CE130-6501-09E3-107D-FE6C88503180}" name="Sanjeev Kayath" initials="SK" userId="S::sanjeev.kayath@gilead.com::2f2473ad-0bcb-4664-9370-37d94f7d12da" providerId="AD"/>
  <p188:author id="{23EF5468-BEE3-875A-60AF-BAF3FFDD1DE3}" name="Sanga Reddy Peerreddy (Contractor)" initials="S(" userId="S::sangareddy.peerreddy@gilead.com::ae961085-6ffb-40de-8318-f8998b840f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6F3E4-ADD7-2882-A8C7-B6BDF397D92B}" v="411" dt="2025-11-06T19:28:10.232"/>
    <p1510:client id="{7B9548B0-49C5-761B-46F1-6171737B8AF2}" v="98" dt="2025-11-06T10:31:44.801"/>
    <p1510:client id="{82D88673-27B7-85B2-A57D-A2439620E666}" v="38" dt="2025-11-05T19:07:16.466"/>
    <p1510:client id="{DC53B710-42E8-70FD-4923-D88F244A0D42}" v="667" dt="2025-11-05T19:04:29.080"/>
    <p1510:client id="{F098F79F-578F-6F69-4BB1-92E72518ABE9}" v="94" dt="2025-11-06T06:27:47.365"/>
    <p1510:client id="{F4BE5CF1-3B19-0E0F-FB1F-C3188B62C5E9}" v="65" dt="2025-11-05T17:31:27.866"/>
  </p1510:revLst>
</p1510:revInfo>
</file>

<file path=ppt/tableStyles.xml><?xml version="1.0" encoding="utf-8"?>
<a:tblStyleLst xmlns:a="http://schemas.openxmlformats.org/drawingml/2006/main" def="{EB6DEECB-56F1-4456-BCD5-D4FBEF479A18}">
  <a:tblStyle styleId="{EB6DEECB-56F1-4456-BCD5-D4FBEF479A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A"/>
          </a:solidFill>
        </a:fill>
      </a:tcStyle>
    </a:wholeTbl>
    <a:band1H>
      <a:tcTxStyle/>
      <a:tcStyle>
        <a:tcBdr/>
        <a:fill>
          <a:solidFill>
            <a:srgbClr val="CBCCD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CCD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67CE550-D046-4AFA-B757-7AF14B985517}" styleName="Table_1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rgbClr val="156082">
              <a:alpha val="40000"/>
            </a:srgb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156082">
              <a:alpha val="40000"/>
            </a:srgb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15608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ED2732E-1BB7-4996-AE4D-151F2E9E297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21" Type="http://schemas.openxmlformats.org/officeDocument/2006/relationships/slide" Target="slides/slide17.xml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4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A5618-DC14-87E1-42E3-DAEF937A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DA736-C5ED-BDA0-1FEE-54EF74D81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0CFB1-9E1A-1BD8-7CD6-8FEA32538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E43C-4A05-5E86-6A1D-B0D9F749B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2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1113-38DE-0118-C564-C860BE4C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F5F20-E1EB-9C6C-210D-894F123A3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4187-97BD-9AED-60DD-8A62D7FDE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7C74-22BB-DAC6-AB5B-052BB7E52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19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8000-E7DD-4993-37D1-576CF6A1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4C041-52A0-FFCF-2CFF-A2FF3D33D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BDBCE-C33B-BEF5-CAA0-6E40E5A8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EC25-8012-F068-2F2D-4F04A57FF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49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EA79-8B97-23E5-FFCF-B81E58E5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89299-32CB-E47F-2B10-A6BF06EE0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541F5-6D27-A21B-1769-5EA528A71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5E078-D773-D47C-8769-5B2AA6DB8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6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548640" y="429768"/>
            <a:ext cx="1109167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body" idx="1"/>
          </p:nvPr>
        </p:nvSpPr>
        <p:spPr>
          <a:xfrm>
            <a:off x="548640" y="1856232"/>
            <a:ext cx="11091672" cy="445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–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⎼"/>
              <a:defRPr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⎼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C50F3C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4"/>
          <p:cNvSpPr txBox="1">
            <a:spLocks noGrp="1"/>
          </p:cNvSpPr>
          <p:nvPr>
            <p:ph type="ctrTitle"/>
          </p:nvPr>
        </p:nvSpPr>
        <p:spPr>
          <a:xfrm>
            <a:off x="609600" y="1658249"/>
            <a:ext cx="10058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rebuchet MS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subTitle" idx="1"/>
          </p:nvPr>
        </p:nvSpPr>
        <p:spPr>
          <a:xfrm>
            <a:off x="609600" y="4077886"/>
            <a:ext cx="100584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500"/>
              <a:buNone/>
              <a:defRPr sz="1500" b="0" i="0">
                <a:solidFill>
                  <a:srgbClr val="F3F3F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61" name="Google Shape;161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279" y="637899"/>
            <a:ext cx="1793826" cy="4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BG">
  <p:cSld name="Key Point - Red BG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5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5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6" name="Google Shape;166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5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BG">
  <p:cSld name="Key Point - Blue BG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6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6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1" name="Google Shape;171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6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Text">
  <p:cSld name="Key Point - Red 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7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4500"/>
              <a:buFont typeface="Trebuchet MS"/>
              <a:buNone/>
              <a:defRPr sz="45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6" name="Google Shape;176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Text">
  <p:cSld name="Key Point - Blue 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8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Trebuchet MS"/>
              <a:buNone/>
              <a:defRPr sz="45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1" name="Google Shape;181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Picture">
  <p:cSld name="Key Point - Pictur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59"/>
          <p:cNvSpPr txBox="1">
            <a:spLocks noGrp="1"/>
          </p:cNvSpPr>
          <p:nvPr>
            <p:ph type="title"/>
          </p:nvPr>
        </p:nvSpPr>
        <p:spPr>
          <a:xfrm>
            <a:off x="838200" y="3932482"/>
            <a:ext cx="10515600" cy="189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Trebuchet MS"/>
              <a:buNone/>
              <a:defRPr sz="5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- Picture">
  <p:cSld name="Divider - Pictur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0"/>
          <p:cNvSpPr>
            <a:spLocks noGrp="1"/>
          </p:cNvSpPr>
          <p:nvPr>
            <p:ph type="pic" idx="2"/>
          </p:nvPr>
        </p:nvSpPr>
        <p:spPr>
          <a:xfrm>
            <a:off x="1" y="0"/>
            <a:ext cx="1219199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60"/>
          <p:cNvSpPr txBox="1">
            <a:spLocks noGrp="1"/>
          </p:cNvSpPr>
          <p:nvPr>
            <p:ph type="body" idx="1"/>
          </p:nvPr>
        </p:nvSpPr>
        <p:spPr>
          <a:xfrm>
            <a:off x="0" y="957364"/>
            <a:ext cx="5939883" cy="4943272"/>
          </a:xfrm>
          <a:prstGeom prst="rect">
            <a:avLst/>
          </a:prstGeom>
          <a:solidFill>
            <a:srgbClr val="C50F3C"/>
          </a:solidFill>
          <a:ln>
            <a:noFill/>
          </a:ln>
        </p:spPr>
        <p:txBody>
          <a:bodyPr spcFirstLastPara="1" wrap="square" lIns="914400" tIns="914400" rIns="914400" bIns="9144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/List">
  <p:cSld name="Agenda/Lis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1"/>
          <p:cNvSpPr/>
          <p:nvPr/>
        </p:nvSpPr>
        <p:spPr>
          <a:xfrm>
            <a:off x="4249783" y="0"/>
            <a:ext cx="794221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1"/>
          <p:cNvSpPr/>
          <p:nvPr/>
        </p:nvSpPr>
        <p:spPr>
          <a:xfrm>
            <a:off x="0" y="0"/>
            <a:ext cx="4249783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1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39729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4" name="Google Shape;194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1"/>
          <p:cNvSpPr txBox="1">
            <a:spLocks noGrp="1"/>
          </p:cNvSpPr>
          <p:nvPr>
            <p:ph type="body" idx="2"/>
          </p:nvPr>
        </p:nvSpPr>
        <p:spPr>
          <a:xfrm>
            <a:off x="4606972" y="781844"/>
            <a:ext cx="7157992" cy="529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55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AutoNum type="arabicPeriod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Black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Black"/>
              <a:buAutoNum type="arabicPeriod"/>
              <a:defRPr/>
            </a:lvl3pPr>
            <a:lvl4pPr marL="1828800" lvl="3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AutoNum type="arabicPeriod"/>
              <a:defRPr/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61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- Side By Side">
  <p:cSld name="Content - Side By Side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2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2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4061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62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62"/>
          <p:cNvCxnSpPr/>
          <p:nvPr/>
        </p:nvCxnSpPr>
        <p:spPr>
          <a:xfrm>
            <a:off x="4260501" y="1628503"/>
            <a:ext cx="0" cy="347472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3" name="Google Shape;203;p62"/>
          <p:cNvSpPr txBox="1">
            <a:spLocks noGrp="1"/>
          </p:cNvSpPr>
          <p:nvPr>
            <p:ph type="body" idx="2"/>
          </p:nvPr>
        </p:nvSpPr>
        <p:spPr>
          <a:xfrm>
            <a:off x="4606972" y="800327"/>
            <a:ext cx="7157992" cy="525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62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">
  <p:cSld name="Key Comparison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63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3200"/>
              <a:buNone/>
              <a:defRPr sz="32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63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" name="Google Shape;209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3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63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 - Blue">
  <p:cSld name="Key Comparison - Blu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64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64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6" name="Google Shape;216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4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64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Split">
  <p:cSld name="Picture Spli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095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6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65"/>
          <p:cNvSpPr txBox="1">
            <a:spLocks noGrp="1"/>
          </p:cNvSpPr>
          <p:nvPr>
            <p:ph type="sldNum" idx="12"/>
          </p:nvPr>
        </p:nvSpPr>
        <p:spPr>
          <a:xfrm>
            <a:off x="211014" y="6400799"/>
            <a:ext cx="745915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65"/>
          <p:cNvSpPr txBox="1"/>
          <p:nvPr/>
        </p:nvSpPr>
        <p:spPr>
          <a:xfrm>
            <a:off x="1707493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4406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5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7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6" name="Google Shape;236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67"/>
          <p:cNvSpPr txBox="1">
            <a:spLocks noGrp="1"/>
          </p:cNvSpPr>
          <p:nvPr>
            <p:ph type="body" idx="1"/>
          </p:nvPr>
        </p:nvSpPr>
        <p:spPr>
          <a:xfrm>
            <a:off x="577516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67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6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7"/>
          <p:cNvSpPr txBox="1">
            <a:spLocks noGrp="1"/>
          </p:cNvSpPr>
          <p:nvPr>
            <p:ph type="body" idx="2"/>
          </p:nvPr>
        </p:nvSpPr>
        <p:spPr>
          <a:xfrm>
            <a:off x="6150365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8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4" name="Google Shape;244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8"/>
          <p:cNvSpPr txBox="1">
            <a:spLocks noGrp="1"/>
          </p:cNvSpPr>
          <p:nvPr>
            <p:ph type="body" idx="1"/>
          </p:nvPr>
        </p:nvSpPr>
        <p:spPr>
          <a:xfrm>
            <a:off x="57751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68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6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8"/>
          <p:cNvSpPr txBox="1">
            <a:spLocks noGrp="1"/>
          </p:cNvSpPr>
          <p:nvPr>
            <p:ph type="body" idx="2"/>
          </p:nvPr>
        </p:nvSpPr>
        <p:spPr>
          <a:xfrm>
            <a:off x="430558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68"/>
          <p:cNvSpPr txBox="1">
            <a:spLocks noGrp="1"/>
          </p:cNvSpPr>
          <p:nvPr>
            <p:ph type="body" idx="3"/>
          </p:nvPr>
        </p:nvSpPr>
        <p:spPr>
          <a:xfrm>
            <a:off x="8033658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Background">
  <p:cSld name="Red Background">
    <p:bg>
      <p:bgPr>
        <a:solidFill>
          <a:srgbClr val="C50F3C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Background">
  <p:cSld name="Blue Background">
    <p:bg>
      <p:bgPr>
        <a:solidFill>
          <a:schemeClr val="accen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ck Background">
  <p:cSld name="Black Background">
    <p:bg>
      <p:bgPr>
        <a:solidFill>
          <a:schemeClr val="accent6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9ea9413e2_1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g279ea9413e2_1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279ea9413e2_1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5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⎼"/>
              <a:defRPr sz="18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302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⎼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175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⎼"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048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⎼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0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1" r:id="rId14"/>
    <p:sldLayoutId id="2147483692" r:id="rId15"/>
    <p:sldLayoutId id="2147483694" r:id="rId16"/>
    <p:sldLayoutId id="2147483695" r:id="rId17"/>
    <p:sldLayoutId id="2147483696" r:id="rId18"/>
    <p:sldLayoutId id="214748369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A1F1-BA2C-65A7-0E87-97B7D56E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AFC3-2BF6-1A3D-3BB6-FBD9F5C3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514" y="2714192"/>
            <a:ext cx="5150873" cy="1432572"/>
          </a:xfr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dirty="0"/>
              <a:t>Weekly Data Health Check Report 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6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DC3A5-8E0E-4954-C397-CF4DE3D4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1EEBEC-7AFC-ABB5-9181-746420D2641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Contents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0373DF-DA2C-44DB-D8FD-65710144867C}"/>
              </a:ext>
            </a:extLst>
          </p:cNvPr>
          <p:cNvSpPr/>
          <p:nvPr/>
        </p:nvSpPr>
        <p:spPr>
          <a:xfrm>
            <a:off x="609600" y="956447"/>
            <a:ext cx="10072642" cy="4174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US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Weekly trends of Breast Rx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,Sans-Serif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Weekly trends of Breast Mx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Rx claims trends (CDK, Hormonals, Oral chemotherapy drugs)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Mx claims trends (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Chemos</a:t>
            </a: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, Targeted agents, ADCs)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Individual drug claims Mx Claims Trends (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Enhertu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Dato)</a:t>
            </a: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Projection </a:t>
            </a: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Factor trends for 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Trodelvy</a:t>
            </a: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 Claims, Oral, Infusion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Outlier Analysis for 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 Mx Claims </a:t>
            </a: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66091-99DC-D77C-5AE8-B739C9A1A4C9}"/>
              </a:ext>
            </a:extLst>
          </p:cNvPr>
          <p:cNvSpPr txBox="1"/>
          <p:nvPr/>
        </p:nvSpPr>
        <p:spPr>
          <a:xfrm>
            <a:off x="87971" y="6097238"/>
            <a:ext cx="7555570" cy="3510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9105" lvl="1">
              <a:lnSpc>
                <a:spcPts val="2200"/>
              </a:lnSpc>
            </a:pPr>
            <a:r>
              <a:rPr lang="en-IN" sz="1600" i="1" dirty="0">
                <a:solidFill>
                  <a:schemeClr val="accent6"/>
                </a:solidFill>
                <a:latin typeface="Trebuchet MS"/>
              </a:rPr>
              <a:t>All views include comparison across latest 3 batches of data</a:t>
            </a:r>
            <a:endParaRPr lang="en-US" sz="1600" i="1" dirty="0">
              <a:solidFill>
                <a:schemeClr val="accent6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3251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A82D-6C62-0D1E-4D2E-E4B5ECD3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8FFDD8-4DA7-2062-DEE6-93F5D7DB64A5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Breast Rx Claims 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28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C020-66C4-0D71-B13B-CC6E08DF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30E26F-8729-F194-463A-963632016117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Breast Mx Claims 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262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6DE4-50FF-A459-A4B6-C1B812E9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598C82-B1C4-11DD-8A25-346D50DCF1C5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ADCs Mx Claims 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63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456EB7-014D-B21A-9012-E7DCE5D02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ADB8E-7CA2-FB8C-5D0F-E984F9A9E4E1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CDKs Rx Claims 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206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10F316-B5C9-201C-6176-015DFCE80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651D8-550A-F10B-C906-C6BE0694F02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Oral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Chemos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Mx Claims 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955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3C0621-FFF3-B700-BC1F-8F51B53F6A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420ED-0F36-8932-F06A-4C228FB5212B}"/>
              </a:ext>
            </a:extLst>
          </p:cNvPr>
          <p:cNvSpPr txBox="1"/>
          <p:nvPr/>
        </p:nvSpPr>
        <p:spPr>
          <a:xfrm>
            <a:off x="547" y="-2317"/>
            <a:ext cx="924767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Hormonal Drugs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34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062B-24B5-1934-7EBC-AAC2E641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B0513-E1A9-4CAE-C461-2661693A5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E38BF-205D-2ECC-4D8F-CB55E3FAD79A}"/>
              </a:ext>
            </a:extLst>
          </p:cNvPr>
          <p:cNvSpPr txBox="1"/>
          <p:nvPr/>
        </p:nvSpPr>
        <p:spPr>
          <a:xfrm>
            <a:off x="304108" y="276463"/>
            <a:ext cx="1073047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Targeted agents Drugs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879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2B854-B247-C665-365F-3BF35AB1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480AD-6CED-217F-9D1A-F7A4A3750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C4DC6-7991-94A8-5281-B39F8FA3FCB5}"/>
              </a:ext>
            </a:extLst>
          </p:cNvPr>
          <p:cNvSpPr txBox="1"/>
          <p:nvPr/>
        </p:nvSpPr>
        <p:spPr>
          <a:xfrm>
            <a:off x="304108" y="276463"/>
            <a:ext cx="924767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Chemo Drugs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3507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A84E0-953E-DBF1-1EF9-6D62ED294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A0EFE-F02C-2A43-1265-04C62FF4E83E}"/>
              </a:ext>
            </a:extLst>
          </p:cNvPr>
          <p:cNvSpPr txBox="1"/>
          <p:nvPr/>
        </p:nvSpPr>
        <p:spPr>
          <a:xfrm>
            <a:off x="319497" y="268377"/>
            <a:ext cx="1134852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 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Trodelvy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 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9166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6A71-2DEF-6099-89F4-75AEFD4C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DC3A27-61C8-2D2B-9F5E-738595449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26C9-33AC-3AF5-33DE-6E436D37F798}"/>
              </a:ext>
            </a:extLst>
          </p:cNvPr>
          <p:cNvSpPr txBox="1"/>
          <p:nvPr/>
        </p:nvSpPr>
        <p:spPr>
          <a:xfrm>
            <a:off x="387047" y="255727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Enhertu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1223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204-BE0C-326B-79F9-B27D044E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BEEF1-FDFE-D499-662F-90BF8F96C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D467C-DE00-64DF-3FBA-6A1318FCD085}"/>
              </a:ext>
            </a:extLst>
          </p:cNvPr>
          <p:cNvSpPr txBox="1"/>
          <p:nvPr/>
        </p:nvSpPr>
        <p:spPr>
          <a:xfrm>
            <a:off x="387047" y="255727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Dato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319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A30A-F2F5-57B2-B5DF-48158904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624E8-4414-CCE0-9BF0-854B087E23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BB04E-E9F4-A72A-717B-93DC9F142085}"/>
              </a:ext>
            </a:extLst>
          </p:cNvPr>
          <p:cNvSpPr txBox="1"/>
          <p:nvPr/>
        </p:nvSpPr>
        <p:spPr>
          <a:xfrm>
            <a:off x="387047" y="255727"/>
            <a:ext cx="9580341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TRO Projection Factor (R12M)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716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071B0-2A85-8B3C-91EF-85BAAD1EEB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81E5B-74AD-0BBD-FA7B-9A9D5D6D18EB}"/>
              </a:ext>
            </a:extLst>
          </p:cNvPr>
          <p:cNvSpPr txBox="1"/>
          <p:nvPr/>
        </p:nvSpPr>
        <p:spPr>
          <a:xfrm>
            <a:off x="74428" y="0"/>
            <a:ext cx="96224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Chemo Projection Factor (R12M)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25291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FE2A24-8A9C-2288-0912-743408ACA6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66D83-0A1F-9D2E-6572-67D9B39C5E7D}"/>
              </a:ext>
            </a:extLst>
          </p:cNvPr>
          <p:cNvSpPr txBox="1"/>
          <p:nvPr/>
        </p:nvSpPr>
        <p:spPr>
          <a:xfrm>
            <a:off x="135564" y="74712"/>
            <a:ext cx="95081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Oral Projection Factor (R12M)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69144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33E2C6-C701-DDC9-1244-047DB3C79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FF264-B9AE-6112-02E2-5A5BA1673D04}"/>
              </a:ext>
            </a:extLst>
          </p:cNvPr>
          <p:cNvSpPr txBox="1"/>
          <p:nvPr/>
        </p:nvSpPr>
        <p:spPr>
          <a:xfrm>
            <a:off x="148281" y="136525"/>
            <a:ext cx="95270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Outlier analysis of TRO (on weekly trend)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42008083"/>
      </p:ext>
    </p:extLst>
  </p:cSld>
  <p:clrMapOvr>
    <a:masterClrMapping/>
  </p:clrMapOvr>
</p:sld>
</file>

<file path=ppt/theme/theme1.xml><?xml version="1.0" encoding="utf-8"?>
<a:theme xmlns:a="http://schemas.openxmlformats.org/drawingml/2006/main" name="1_Creating Possible">
  <a:themeElements>
    <a:clrScheme name="Custom 19">
      <a:dk1>
        <a:srgbClr val="54565B"/>
      </a:dk1>
      <a:lt1>
        <a:srgbClr val="FFFFFF"/>
      </a:lt1>
      <a:dk2>
        <a:srgbClr val="C50E3C"/>
      </a:dk2>
      <a:lt2>
        <a:srgbClr val="C6CAC6"/>
      </a:lt2>
      <a:accent1>
        <a:srgbClr val="203661"/>
      </a:accent1>
      <a:accent2>
        <a:srgbClr val="3C587F"/>
      </a:accent2>
      <a:accent3>
        <a:srgbClr val="8DC1C5"/>
      </a:accent3>
      <a:accent4>
        <a:srgbClr val="688C38"/>
      </a:accent4>
      <a:accent5>
        <a:srgbClr val="AEB618"/>
      </a:accent5>
      <a:accent6>
        <a:srgbClr val="000000"/>
      </a:accent6>
      <a:hlink>
        <a:srgbClr val="3A6C8A"/>
      </a:hlink>
      <a:folHlink>
        <a:srgbClr val="8F7F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fbcd4e-0d6e-4414-853a-02f7dc9ae2ad">
      <Terms xmlns="http://schemas.microsoft.com/office/infopath/2007/PartnerControls"/>
    </lcf76f155ced4ddcb4097134ff3c332f>
    <TaxCatchAll xmlns="1763e1e5-1f9e-4d64-9801-eea52128ce9f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AFB58FA9F2D24F9423A050CE645B92" ma:contentTypeVersion="19" ma:contentTypeDescription="Create a new document." ma:contentTypeScope="" ma:versionID="4367b7e0178fd4178f450700168654d1">
  <xsd:schema xmlns:xsd="http://www.w3.org/2001/XMLSchema" xmlns:xs="http://www.w3.org/2001/XMLSchema" xmlns:p="http://schemas.microsoft.com/office/2006/metadata/properties" xmlns:ns1="http://schemas.microsoft.com/sharepoint/v3" xmlns:ns2="3dfbcd4e-0d6e-4414-853a-02f7dc9ae2ad" xmlns:ns3="1763e1e5-1f9e-4d64-9801-eea52128ce9f" targetNamespace="http://schemas.microsoft.com/office/2006/metadata/properties" ma:root="true" ma:fieldsID="5adfbc94da2f061afab9ea70373239b1" ns1:_="" ns2:_="" ns3:_="">
    <xsd:import namespace="http://schemas.microsoft.com/sharepoint/v3"/>
    <xsd:import namespace="3dfbcd4e-0d6e-4414-853a-02f7dc9ae2ad"/>
    <xsd:import namespace="1763e1e5-1f9e-4d64-9801-eea52128ce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bcd4e-0d6e-4414-853a-02f7dc9ae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59aaaf-67c2-4a9b-8dae-6c62ae0ca4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63e1e5-1f9e-4d64-9801-eea52128ce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149961a-0a76-4c5e-9277-ec59576407b3}" ma:internalName="TaxCatchAll" ma:showField="CatchAllData" ma:web="1763e1e5-1f9e-4d64-9801-eea52128ce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9AD33E-732B-47E0-908F-D3AE784479C8}">
  <ds:schemaRefs>
    <ds:schemaRef ds:uri="1763e1e5-1f9e-4d64-9801-eea52128ce9f"/>
    <ds:schemaRef ds:uri="3dfbcd4e-0d6e-4414-853a-02f7dc9ae2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5BF7640-923D-457F-AF43-935957F2ACCA}">
  <ds:schemaRefs>
    <ds:schemaRef ds:uri="1763e1e5-1f9e-4d64-9801-eea52128ce9f"/>
    <ds:schemaRef ds:uri="3dfbcd4e-0d6e-4414-853a-02f7dc9ae2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295AA52-3796-4541-9BB4-73AAE38280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209</Words>
  <Application>Microsoft Macintosh PowerPoint</Application>
  <PresentationFormat>Widescreen</PresentationFormat>
  <Paragraphs>47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Arial,Sans-Serif</vt:lpstr>
      <vt:lpstr>Arial Black</vt:lpstr>
      <vt:lpstr>Arial</vt:lpstr>
      <vt:lpstr>Noto Sans Symbols</vt:lpstr>
      <vt:lpstr>Trebuchet MS</vt:lpstr>
      <vt:lpstr>Proxima Nova</vt:lpstr>
      <vt:lpstr>Calibri</vt:lpstr>
      <vt:lpstr>1_Creating Possible</vt:lpstr>
      <vt:lpstr>Weekly Data Health Check Report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C3PO Modules – Structured Data</dc:title>
  <dc:creator>Brian Scott</dc:creator>
  <cp:lastModifiedBy>Shashi Kumar Vemula (Contractor)</cp:lastModifiedBy>
  <cp:revision>7</cp:revision>
  <dcterms:created xsi:type="dcterms:W3CDTF">2021-05-05T00:34:42Z</dcterms:created>
  <dcterms:modified xsi:type="dcterms:W3CDTF">2025-11-11T11:39:23Z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0x0101004EAFB58FA9F2D24F9423A050CE645B92</vt:lpwstr>
  </property>
  <property fmtid="{D5CDD505-2E9C-101B-9397-08002B2CF9AE}" pid="3" name="MSIP_Label_16de74a9-4f8a-4c74-b507-22417e17d25b_Method">
    <vt:lpwstr>Privileged</vt:lpwstr>
  </property>
  <property fmtid="{D5CDD505-2E9C-101B-9397-08002B2CF9AE}" pid="4" name="MSIP_Label_16de74a9-4f8a-4c74-b507-22417e17d25b_ContentBits">
    <vt:lpwstr>0</vt:lpwstr>
  </property>
  <property fmtid="{D5CDD505-2E9C-101B-9397-08002B2CF9AE}" pid="5" name="MSIP_Label_16de74a9-4f8a-4c74-b507-22417e17d25b_SetDate">
    <vt:lpwstr>2023-12-11T05:06:21Z</vt:lpwstr>
  </property>
  <property fmtid="{D5CDD505-2E9C-101B-9397-08002B2CF9AE}" pid="6" name="MSIP_Label_16de74a9-4f8a-4c74-b507-22417e17d25b_ActionId">
    <vt:lpwstr>034c4096-7886-488d-8374-9ac868763a7f</vt:lpwstr>
  </property>
  <property fmtid="{D5CDD505-2E9C-101B-9397-08002B2CF9AE}" pid="7" name="MSIP_Label_16de74a9-4f8a-4c74-b507-22417e17d25b_Enabled">
    <vt:lpwstr>true</vt:lpwstr>
  </property>
  <property fmtid="{D5CDD505-2E9C-101B-9397-08002B2CF9AE}" pid="8" name="MSIP_Label_16de74a9-4f8a-4c74-b507-22417e17d25b_SiteId">
    <vt:lpwstr>a5a8bcaa-3292-41e6-b735-5e8b21f4dbfd</vt:lpwstr>
  </property>
  <property fmtid="{D5CDD505-2E9C-101B-9397-08002B2CF9AE}" pid="9" name="MSIP_Label_16de74a9-4f8a-4c74-b507-22417e17d25b_Name">
    <vt:lpwstr>16de74a9-4f8a-4c74-b507-22417e17d25b</vt:lpwstr>
  </property>
  <property fmtid="{D5CDD505-2E9C-101B-9397-08002B2CF9AE}" pid="10" name="MediaServiceImageTags">
    <vt:lpwstr/>
  </property>
</Properties>
</file>