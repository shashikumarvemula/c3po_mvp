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1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5.xml" ContentType="application/vnd.openxmlformats-officedocument.drawingml.char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4"/>
  </p:sldMasterIdLst>
  <p:notesMasterIdLst>
    <p:notesMasterId r:id="rId22"/>
  </p:notesMasterIdLst>
  <p:sldIdLst>
    <p:sldId id="2147483609" r:id="rId5"/>
    <p:sldId id="2147483610" r:id="rId6"/>
    <p:sldId id="2147483613" r:id="rId7"/>
    <p:sldId id="2147483612" r:id="rId8"/>
    <p:sldId id="2147483614" r:id="rId9"/>
    <p:sldId id="2147483615" r:id="rId10"/>
    <p:sldId id="2147483616" r:id="rId11"/>
    <p:sldId id="2147483611" r:id="rId12"/>
    <p:sldId id="2147483618" r:id="rId13"/>
    <p:sldId id="2147483619" r:id="rId14"/>
    <p:sldId id="2147483626" r:id="rId15"/>
    <p:sldId id="2147483620" r:id="rId16"/>
    <p:sldId id="2147483621" r:id="rId17"/>
    <p:sldId id="2147483622" r:id="rId18"/>
    <p:sldId id="2147483627" r:id="rId19"/>
    <p:sldId id="2147483629" r:id="rId20"/>
    <p:sldId id="2147483630" r:id="rId21"/>
  </p:sldIdLst>
  <p:sldSz cx="12192000" cy="6858000"/>
  <p:notesSz cx="7010400" cy="9296400"/>
  <p:embeddedFontLst>
    <p:embeddedFont>
      <p:font typeface="Arial Black" panose="020B0604020202020204" pitchFamily="34" charset="0"/>
      <p:bold r:id="rId23"/>
    </p:embeddedFont>
    <p:embeddedFont>
      <p:font typeface="Proxima Nova" panose="02000506030000020004" pitchFamily="2" charset="0"/>
      <p:regular r:id="rId24"/>
      <p:bold r:id="rId25"/>
      <p:italic r:id="rId26"/>
      <p:boldItalic r:id="rId27"/>
    </p:embeddedFont>
    <p:embeddedFont>
      <p:font typeface="Trebuchet MS" panose="020B070302020209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41" roundtripDataSignature="AMtx7mgKIDiBwvDbRhG/V6mW1YoVU2XlU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81CE130-6501-09E3-107D-FE6C88503180}" name="Sanjeev Kayath" initials="SK" userId="S::sanjeev.kayath@gilead.com::2f2473ad-0bcb-4664-9370-37d94f7d12da" providerId="AD"/>
  <p188:author id="{23EF5468-BEE3-875A-60AF-BAF3FFDD1DE3}" name="Sanga Reddy Peerreddy (Contractor)" initials="S(" userId="S::sangareddy.peerreddy@gilead.com::ae961085-6ffb-40de-8318-f8998b840f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66F3E4-ADD7-2882-A8C7-B6BDF397D92B}" v="411" dt="2025-11-06T19:28:10.232"/>
    <p1510:client id="{7B9548B0-49C5-761B-46F1-6171737B8AF2}" v="98" dt="2025-11-06T10:31:44.801"/>
    <p1510:client id="{82D88673-27B7-85B2-A57D-A2439620E666}" v="38" dt="2025-11-05T19:07:16.466"/>
    <p1510:client id="{DC53B710-42E8-70FD-4923-D88F244A0D42}" v="667" dt="2025-11-05T19:04:29.080"/>
    <p1510:client id="{F098F79F-578F-6F69-4BB1-92E72518ABE9}" v="94" dt="2025-11-06T06:27:47.365"/>
    <p1510:client id="{F4BE5CF1-3B19-0E0F-FB1F-C3188B62C5E9}" v="65" dt="2025-11-05T17:31:27.866"/>
  </p1510:revLst>
</p1510:revInfo>
</file>

<file path=ppt/tableStyles.xml><?xml version="1.0" encoding="utf-8"?>
<a:tblStyleLst xmlns:a="http://schemas.openxmlformats.org/drawingml/2006/main" def="{EB6DEECB-56F1-4456-BCD5-D4FBEF479A18}">
  <a:tblStyle styleId="{EB6DEECB-56F1-4456-BCD5-D4FBEF479A1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7EA"/>
          </a:solidFill>
        </a:fill>
      </a:tcStyle>
    </a:wholeTbl>
    <a:band1H>
      <a:tcTxStyle/>
      <a:tcStyle>
        <a:tcBdr/>
        <a:fill>
          <a:solidFill>
            <a:srgbClr val="CBCCD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CCD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67CE550-D046-4AFA-B757-7AF14B985517}" styleName="Table_1"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rgbClr val="156082">
              <a:alpha val="40000"/>
            </a:srgb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156082">
              <a:alpha val="40000"/>
            </a:srgb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15608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ED2732E-1BB7-4996-AE4D-151F2E9E297B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68"/>
    <p:restoredTop sz="94680"/>
  </p:normalViewPr>
  <p:slideViewPr>
    <p:cSldViewPr snapToGrid="0">
      <p:cViewPr varScale="1">
        <p:scale>
          <a:sx n="118" d="100"/>
          <a:sy n="118" d="100"/>
        </p:scale>
        <p:origin x="224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21" Type="http://schemas.openxmlformats.org/officeDocument/2006/relationships/slide" Target="slides/slide17.xml"/><Relationship Id="rId42" Type="http://schemas.openxmlformats.org/officeDocument/2006/relationships/presProps" Target="presProps.xml"/><Relationship Id="rId47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4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41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 b="1" i="0" u="none" strike="noStrike" kern="1200" baseline="0" dirty="0">
                <a:solidFill>
                  <a:srgbClr val="003366"/>
                </a:solidFill>
              </a:rPr>
              <a:t>MX Claims Monthly Trend - Latest 3 Batches (Last 2 Years)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1-B8ED-C84F-B8C4-B06E1D0F93B7}"/>
              </c:ext>
            </c:extLst>
          </c:dPt>
          <c:dPt>
            <c:idx val="2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B8ED-C84F-B8C4-B06E1D0F93B7}"/>
              </c:ext>
            </c:extLst>
          </c:dPt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86516763</c:v>
                </c:pt>
                <c:pt idx="1">
                  <c:v>81064897</c:v>
                </c:pt>
                <c:pt idx="2">
                  <c:v>75804235</c:v>
                </c:pt>
                <c:pt idx="3">
                  <c:v>82331124</c:v>
                </c:pt>
                <c:pt idx="4">
                  <c:v>69399496</c:v>
                </c:pt>
                <c:pt idx="5">
                  <c:v>64175489</c:v>
                </c:pt>
                <c:pt idx="6">
                  <c:v>68936639</c:v>
                </c:pt>
                <c:pt idx="7">
                  <c:v>69450508</c:v>
                </c:pt>
                <c:pt idx="8">
                  <c:v>63251189</c:v>
                </c:pt>
                <c:pt idx="9">
                  <c:v>68152922</c:v>
                </c:pt>
                <c:pt idx="10">
                  <c:v>68351450</c:v>
                </c:pt>
                <c:pt idx="11">
                  <c:v>66377842</c:v>
                </c:pt>
                <c:pt idx="12">
                  <c:v>73834868</c:v>
                </c:pt>
                <c:pt idx="13">
                  <c:v>64349161</c:v>
                </c:pt>
                <c:pt idx="14">
                  <c:v>65661984</c:v>
                </c:pt>
                <c:pt idx="15">
                  <c:v>70191850</c:v>
                </c:pt>
                <c:pt idx="16">
                  <c:v>64741512</c:v>
                </c:pt>
                <c:pt idx="17">
                  <c:v>69283481</c:v>
                </c:pt>
                <c:pt idx="18">
                  <c:v>71066051</c:v>
                </c:pt>
                <c:pt idx="19">
                  <c:v>68582778</c:v>
                </c:pt>
                <c:pt idx="20">
                  <c:v>66962384</c:v>
                </c:pt>
                <c:pt idx="21">
                  <c:v>69819024</c:v>
                </c:pt>
                <c:pt idx="22">
                  <c:v>64906445</c:v>
                </c:pt>
                <c:pt idx="23">
                  <c:v>57977092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5F-1C41-8B22-E649C48504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86075695</c:v>
                </c:pt>
                <c:pt idx="1">
                  <c:v>80647407</c:v>
                </c:pt>
                <c:pt idx="2">
                  <c:v>75412650</c:v>
                </c:pt>
                <c:pt idx="3">
                  <c:v>81896321</c:v>
                </c:pt>
                <c:pt idx="4">
                  <c:v>69013427</c:v>
                </c:pt>
                <c:pt idx="5">
                  <c:v>63807072</c:v>
                </c:pt>
                <c:pt idx="6">
                  <c:v>68544385</c:v>
                </c:pt>
                <c:pt idx="7">
                  <c:v>69052504</c:v>
                </c:pt>
                <c:pt idx="8">
                  <c:v>62882964</c:v>
                </c:pt>
                <c:pt idx="9">
                  <c:v>67753366</c:v>
                </c:pt>
                <c:pt idx="10">
                  <c:v>67938743</c:v>
                </c:pt>
                <c:pt idx="11">
                  <c:v>65967029</c:v>
                </c:pt>
                <c:pt idx="12">
                  <c:v>73378944</c:v>
                </c:pt>
                <c:pt idx="13">
                  <c:v>63934672</c:v>
                </c:pt>
                <c:pt idx="14">
                  <c:v>65238664</c:v>
                </c:pt>
                <c:pt idx="15">
                  <c:v>69716756</c:v>
                </c:pt>
                <c:pt idx="16">
                  <c:v>64277014</c:v>
                </c:pt>
                <c:pt idx="17">
                  <c:v>68762706</c:v>
                </c:pt>
                <c:pt idx="18">
                  <c:v>70508709</c:v>
                </c:pt>
                <c:pt idx="19">
                  <c:v>67991173</c:v>
                </c:pt>
                <c:pt idx="20">
                  <c:v>66199917</c:v>
                </c:pt>
                <c:pt idx="21">
                  <c:v>67486840</c:v>
                </c:pt>
                <c:pt idx="22">
                  <c:v>56679672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E5F-1C41-8B22-E649C48504B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28575" cap="rnd">
              <a:solidFill>
                <a:srgbClr val="FF7F0E"/>
              </a:solidFill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81371000</c:v>
                </c:pt>
                <c:pt idx="1">
                  <c:v>76187639</c:v>
                </c:pt>
                <c:pt idx="2">
                  <c:v>71257858</c:v>
                </c:pt>
                <c:pt idx="3">
                  <c:v>76583224</c:v>
                </c:pt>
                <c:pt idx="4">
                  <c:v>63439110</c:v>
                </c:pt>
                <c:pt idx="5">
                  <c:v>57772840</c:v>
                </c:pt>
                <c:pt idx="6">
                  <c:v>62393641</c:v>
                </c:pt>
                <c:pt idx="7">
                  <c:v>63009067</c:v>
                </c:pt>
                <c:pt idx="8">
                  <c:v>57430759</c:v>
                </c:pt>
                <c:pt idx="9">
                  <c:v>62004642</c:v>
                </c:pt>
                <c:pt idx="10">
                  <c:v>62262730</c:v>
                </c:pt>
                <c:pt idx="11">
                  <c:v>60411515</c:v>
                </c:pt>
                <c:pt idx="12">
                  <c:v>67090404</c:v>
                </c:pt>
                <c:pt idx="13">
                  <c:v>58244714</c:v>
                </c:pt>
                <c:pt idx="14">
                  <c:v>59073826</c:v>
                </c:pt>
                <c:pt idx="15">
                  <c:v>63053009</c:v>
                </c:pt>
                <c:pt idx="16">
                  <c:v>58624391</c:v>
                </c:pt>
                <c:pt idx="17">
                  <c:v>63275793</c:v>
                </c:pt>
                <c:pt idx="18">
                  <c:v>65391968</c:v>
                </c:pt>
                <c:pt idx="19">
                  <c:v>67769166</c:v>
                </c:pt>
                <c:pt idx="20">
                  <c:v>63653128</c:v>
                </c:pt>
                <c:pt idx="21">
                  <c:v>46474576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E5F-1C41-8B22-E649C48504B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triangle"/>
            <c:size val="13"/>
            <c:spPr>
              <a:solidFill>
                <a:schemeClr val="accent6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80000000</c:v>
                </c:pt>
                <c:pt idx="1">
                  <c:v>80000000</c:v>
                </c:pt>
                <c:pt idx="2">
                  <c:v>80000000</c:v>
                </c:pt>
                <c:pt idx="3">
                  <c:v>80000000</c:v>
                </c:pt>
                <c:pt idx="4">
                  <c:v>80000000</c:v>
                </c:pt>
                <c:pt idx="5">
                  <c:v>80000000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979-7A48-8118-AF8A01A1F1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47593824"/>
        <c:axId val="247595536"/>
      </c:lineChart>
      <c:catAx>
        <c:axId val="247593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7595536"/>
        <c:crosses val="autoZero"/>
        <c:auto val="1"/>
        <c:lblAlgn val="ctr"/>
        <c:lblOffset val="100"/>
        <c:noMultiLvlLbl val="0"/>
      </c:catAx>
      <c:valAx>
        <c:axId val="247595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7593824"/>
        <c:crosses val="autoZero"/>
        <c:crossBetween val="between"/>
      </c:valAx>
      <c:spPr>
        <a:noFill/>
        <a:ln>
          <a:solidFill>
            <a:schemeClr val="accent1"/>
          </a:solidFill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"/>
          <c:y val="0.93965338854935376"/>
          <c:w val="1"/>
          <c:h val="4.59990822853392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 b="1" i="0" u="none" strike="noStrike" kern="1200" spc="0" baseline="0" dirty="0">
                <a:solidFill>
                  <a:srgbClr val="003366"/>
                </a:solidFill>
              </a:rPr>
              <a:t>RX Claims Monthly Trend - Latest 3 Batches (Last 2 Years)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2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1-5855-764F-A3FC-57560F1AE016}"/>
              </c:ext>
            </c:extLst>
          </c:dPt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1333421</c:v>
                </c:pt>
                <c:pt idx="1">
                  <c:v>1277255</c:v>
                </c:pt>
                <c:pt idx="2">
                  <c:v>1254567</c:v>
                </c:pt>
                <c:pt idx="3">
                  <c:v>1334566</c:v>
                </c:pt>
                <c:pt idx="4">
                  <c:v>1231692</c:v>
                </c:pt>
                <c:pt idx="5">
                  <c:v>1245622</c:v>
                </c:pt>
                <c:pt idx="6">
                  <c:v>1290290</c:v>
                </c:pt>
                <c:pt idx="7">
                  <c:v>1296054</c:v>
                </c:pt>
                <c:pt idx="8">
                  <c:v>1253604</c:v>
                </c:pt>
                <c:pt idx="9">
                  <c:v>1362505</c:v>
                </c:pt>
                <c:pt idx="10">
                  <c:v>1347717</c:v>
                </c:pt>
                <c:pt idx="11">
                  <c:v>1315771</c:v>
                </c:pt>
                <c:pt idx="12">
                  <c:v>1436727</c:v>
                </c:pt>
                <c:pt idx="13">
                  <c:v>1301776</c:v>
                </c:pt>
                <c:pt idx="14">
                  <c:v>1379136</c:v>
                </c:pt>
                <c:pt idx="15">
                  <c:v>1397566</c:v>
                </c:pt>
                <c:pt idx="16">
                  <c:v>1265064</c:v>
                </c:pt>
                <c:pt idx="17">
                  <c:v>1361727</c:v>
                </c:pt>
                <c:pt idx="18">
                  <c:v>1370921</c:v>
                </c:pt>
                <c:pt idx="19">
                  <c:v>1363686</c:v>
                </c:pt>
                <c:pt idx="20">
                  <c:v>1333760</c:v>
                </c:pt>
                <c:pt idx="21">
                  <c:v>1389288</c:v>
                </c:pt>
                <c:pt idx="22">
                  <c:v>1343987</c:v>
                </c:pt>
                <c:pt idx="23">
                  <c:v>1385115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A1-D24A-B5F3-A43201740F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1333421</c:v>
                </c:pt>
                <c:pt idx="1">
                  <c:v>1277255</c:v>
                </c:pt>
                <c:pt idx="2">
                  <c:v>1254567</c:v>
                </c:pt>
                <c:pt idx="3">
                  <c:v>1334566</c:v>
                </c:pt>
                <c:pt idx="4">
                  <c:v>1231692</c:v>
                </c:pt>
                <c:pt idx="5">
                  <c:v>1245622</c:v>
                </c:pt>
                <c:pt idx="6">
                  <c:v>1290290</c:v>
                </c:pt>
                <c:pt idx="7">
                  <c:v>1296054</c:v>
                </c:pt>
                <c:pt idx="8">
                  <c:v>1253604</c:v>
                </c:pt>
                <c:pt idx="9">
                  <c:v>1362505</c:v>
                </c:pt>
                <c:pt idx="10">
                  <c:v>1347717</c:v>
                </c:pt>
                <c:pt idx="11">
                  <c:v>1315771</c:v>
                </c:pt>
                <c:pt idx="12">
                  <c:v>1436727</c:v>
                </c:pt>
                <c:pt idx="13">
                  <c:v>1301776</c:v>
                </c:pt>
                <c:pt idx="14">
                  <c:v>1379136</c:v>
                </c:pt>
                <c:pt idx="15">
                  <c:v>1397566</c:v>
                </c:pt>
                <c:pt idx="16">
                  <c:v>1265064</c:v>
                </c:pt>
                <c:pt idx="17">
                  <c:v>1361727</c:v>
                </c:pt>
                <c:pt idx="18">
                  <c:v>1370921</c:v>
                </c:pt>
                <c:pt idx="19">
                  <c:v>1363686</c:v>
                </c:pt>
                <c:pt idx="20">
                  <c:v>1333739</c:v>
                </c:pt>
                <c:pt idx="21">
                  <c:v>1390083</c:v>
                </c:pt>
                <c:pt idx="22">
                  <c:v>1344458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A1-D24A-B5F3-A43201740F9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28575" cap="rnd">
              <a:solidFill>
                <a:srgbClr val="FF7000"/>
              </a:solidFill>
              <a:round/>
            </a:ln>
            <a:effectLst/>
          </c:spPr>
          <c:marker>
            <c:symbol val="none"/>
          </c:marker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5855-764F-A3FC-57560F1AE016}"/>
              </c:ext>
            </c:extLst>
          </c:dPt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1333421</c:v>
                </c:pt>
                <c:pt idx="1">
                  <c:v>1277255</c:v>
                </c:pt>
                <c:pt idx="2">
                  <c:v>1254567</c:v>
                </c:pt>
                <c:pt idx="3">
                  <c:v>1334566</c:v>
                </c:pt>
                <c:pt idx="4">
                  <c:v>1231692</c:v>
                </c:pt>
                <c:pt idx="5">
                  <c:v>1245622</c:v>
                </c:pt>
                <c:pt idx="6">
                  <c:v>1290290</c:v>
                </c:pt>
                <c:pt idx="7">
                  <c:v>1296054</c:v>
                </c:pt>
                <c:pt idx="8">
                  <c:v>1253604</c:v>
                </c:pt>
                <c:pt idx="9">
                  <c:v>1362505</c:v>
                </c:pt>
                <c:pt idx="10">
                  <c:v>1347717</c:v>
                </c:pt>
                <c:pt idx="11">
                  <c:v>1315771</c:v>
                </c:pt>
                <c:pt idx="12">
                  <c:v>1436727</c:v>
                </c:pt>
                <c:pt idx="13">
                  <c:v>1301776</c:v>
                </c:pt>
                <c:pt idx="14">
                  <c:v>1379136</c:v>
                </c:pt>
                <c:pt idx="15">
                  <c:v>1397566</c:v>
                </c:pt>
                <c:pt idx="16">
                  <c:v>1265064</c:v>
                </c:pt>
                <c:pt idx="17">
                  <c:v>1361727</c:v>
                </c:pt>
                <c:pt idx="18">
                  <c:v>1370921</c:v>
                </c:pt>
                <c:pt idx="19">
                  <c:v>1363637</c:v>
                </c:pt>
                <c:pt idx="20">
                  <c:v>1333848</c:v>
                </c:pt>
                <c:pt idx="21">
                  <c:v>1342218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2A1-D24A-B5F3-A43201740F9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triangle"/>
            <c:size val="13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130000</c:v>
                </c:pt>
                <c:pt idx="1">
                  <c:v>130000</c:v>
                </c:pt>
                <c:pt idx="2">
                  <c:v>130000</c:v>
                </c:pt>
                <c:pt idx="3">
                  <c:v>130000</c:v>
                </c:pt>
                <c:pt idx="4">
                  <c:v>130000</c:v>
                </c:pt>
                <c:pt idx="5">
                  <c:v>130000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C1E-B64E-941E-D3803DA93A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68248655"/>
        <c:axId val="868823840"/>
      </c:lineChart>
      <c:catAx>
        <c:axId val="1568248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8823840"/>
        <c:crosses val="autoZero"/>
        <c:auto val="1"/>
        <c:lblAlgn val="ctr"/>
        <c:lblOffset val="100"/>
        <c:noMultiLvlLbl val="0"/>
      </c:catAx>
      <c:valAx>
        <c:axId val="868823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8248655"/>
        <c:crosses val="autoZero"/>
        <c:crossBetween val="between"/>
      </c:valAx>
      <c:spPr>
        <a:noFill/>
        <a:ln>
          <a:solidFill>
            <a:schemeClr val="accent1"/>
          </a:solidFill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"/>
          <c:y val="0.94123264356839764"/>
          <c:w val="1"/>
          <c:h val="4.47952983474465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ADCs MX Claims Monthly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18861</c:v>
                </c:pt>
                <c:pt idx="1">
                  <c:v>19094</c:v>
                </c:pt>
                <c:pt idx="2">
                  <c:v>17901</c:v>
                </c:pt>
                <c:pt idx="3">
                  <c:v>19737</c:v>
                </c:pt>
                <c:pt idx="4">
                  <c:v>16407</c:v>
                </c:pt>
                <c:pt idx="5">
                  <c:v>14798</c:v>
                </c:pt>
                <c:pt idx="6">
                  <c:v>16855</c:v>
                </c:pt>
                <c:pt idx="7">
                  <c:v>17781</c:v>
                </c:pt>
                <c:pt idx="8">
                  <c:v>15548</c:v>
                </c:pt>
                <c:pt idx="9">
                  <c:v>17519</c:v>
                </c:pt>
                <c:pt idx="10">
                  <c:v>17766</c:v>
                </c:pt>
                <c:pt idx="11">
                  <c:v>16773</c:v>
                </c:pt>
                <c:pt idx="12">
                  <c:v>19424</c:v>
                </c:pt>
                <c:pt idx="13">
                  <c:v>16605</c:v>
                </c:pt>
                <c:pt idx="14">
                  <c:v>18426</c:v>
                </c:pt>
                <c:pt idx="15">
                  <c:v>19351</c:v>
                </c:pt>
                <c:pt idx="16">
                  <c:v>16982</c:v>
                </c:pt>
                <c:pt idx="17">
                  <c:v>18186</c:v>
                </c:pt>
                <c:pt idx="18">
                  <c:v>18864</c:v>
                </c:pt>
                <c:pt idx="19">
                  <c:v>19404</c:v>
                </c:pt>
                <c:pt idx="20">
                  <c:v>18771</c:v>
                </c:pt>
                <c:pt idx="21">
                  <c:v>20644</c:v>
                </c:pt>
                <c:pt idx="22">
                  <c:v>19643</c:v>
                </c:pt>
                <c:pt idx="23">
                  <c:v>15357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A0-3642-B3B2-564E0891A2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18861</c:v>
                </c:pt>
                <c:pt idx="1">
                  <c:v>19094</c:v>
                </c:pt>
                <c:pt idx="2">
                  <c:v>17901</c:v>
                </c:pt>
                <c:pt idx="3">
                  <c:v>19737</c:v>
                </c:pt>
                <c:pt idx="4">
                  <c:v>16407</c:v>
                </c:pt>
                <c:pt idx="5">
                  <c:v>14798</c:v>
                </c:pt>
                <c:pt idx="6">
                  <c:v>16855</c:v>
                </c:pt>
                <c:pt idx="7">
                  <c:v>17781</c:v>
                </c:pt>
                <c:pt idx="8">
                  <c:v>15548</c:v>
                </c:pt>
                <c:pt idx="9">
                  <c:v>17519</c:v>
                </c:pt>
                <c:pt idx="10">
                  <c:v>17766</c:v>
                </c:pt>
                <c:pt idx="11">
                  <c:v>16773</c:v>
                </c:pt>
                <c:pt idx="12">
                  <c:v>19424</c:v>
                </c:pt>
                <c:pt idx="13">
                  <c:v>16605</c:v>
                </c:pt>
                <c:pt idx="14">
                  <c:v>18426</c:v>
                </c:pt>
                <c:pt idx="15">
                  <c:v>19351</c:v>
                </c:pt>
                <c:pt idx="16">
                  <c:v>16982</c:v>
                </c:pt>
                <c:pt idx="17">
                  <c:v>18186</c:v>
                </c:pt>
                <c:pt idx="18">
                  <c:v>18864</c:v>
                </c:pt>
                <c:pt idx="19">
                  <c:v>19402</c:v>
                </c:pt>
                <c:pt idx="20">
                  <c:v>18753</c:v>
                </c:pt>
                <c:pt idx="21">
                  <c:v>20341</c:v>
                </c:pt>
                <c:pt idx="22">
                  <c:v>15240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1A0-3642-B3B2-564E0891A2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15869</c:v>
                </c:pt>
                <c:pt idx="1">
                  <c:v>15946</c:v>
                </c:pt>
                <c:pt idx="2">
                  <c:v>15039</c:v>
                </c:pt>
                <c:pt idx="3">
                  <c:v>15805</c:v>
                </c:pt>
                <c:pt idx="4">
                  <c:v>12561</c:v>
                </c:pt>
                <c:pt idx="5">
                  <c:v>10919</c:v>
                </c:pt>
                <c:pt idx="6">
                  <c:v>12966</c:v>
                </c:pt>
                <c:pt idx="7">
                  <c:v>13731</c:v>
                </c:pt>
                <c:pt idx="8">
                  <c:v>12064</c:v>
                </c:pt>
                <c:pt idx="9">
                  <c:v>13685</c:v>
                </c:pt>
                <c:pt idx="10">
                  <c:v>13872</c:v>
                </c:pt>
                <c:pt idx="11">
                  <c:v>13161</c:v>
                </c:pt>
                <c:pt idx="12">
                  <c:v>15332</c:v>
                </c:pt>
                <c:pt idx="13">
                  <c:v>12869</c:v>
                </c:pt>
                <c:pt idx="14">
                  <c:v>14471</c:v>
                </c:pt>
                <c:pt idx="15">
                  <c:v>14997</c:v>
                </c:pt>
                <c:pt idx="16">
                  <c:v>13619</c:v>
                </c:pt>
                <c:pt idx="17">
                  <c:v>14679</c:v>
                </c:pt>
                <c:pt idx="18">
                  <c:v>15345</c:v>
                </c:pt>
                <c:pt idx="19">
                  <c:v>18998</c:v>
                </c:pt>
                <c:pt idx="20">
                  <c:v>18149</c:v>
                </c:pt>
                <c:pt idx="21">
                  <c:v>11882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1A0-3642-B3B2-564E0891A2E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15000</c:v>
                </c:pt>
                <c:pt idx="1">
                  <c:v>15000</c:v>
                </c:pt>
                <c:pt idx="2">
                  <c:v>15000</c:v>
                </c:pt>
                <c:pt idx="3">
                  <c:v>15000</c:v>
                </c:pt>
                <c:pt idx="4">
                  <c:v>15000</c:v>
                </c:pt>
                <c:pt idx="5">
                  <c:v>15000</c:v>
                </c:pt>
                <c:pt idx="6">
                  <c:v>15000</c:v>
                </c:pt>
                <c:pt idx="7">
                  <c:v>15000</c:v>
                </c:pt>
                <c:pt idx="8">
                  <c:v>15000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A1-9B44-BBDD-DFF68AF294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22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3732394178983846E-2"/>
          <c:y val="0.94265323851211646"/>
          <c:w val="0.95753699820536275"/>
          <c:h val="4.242774998791011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CDK RX Claims Monthly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31115</c:v>
                </c:pt>
                <c:pt idx="1">
                  <c:v>31139</c:v>
                </c:pt>
                <c:pt idx="2">
                  <c:v>30602</c:v>
                </c:pt>
                <c:pt idx="3">
                  <c:v>32462</c:v>
                </c:pt>
                <c:pt idx="4">
                  <c:v>31572</c:v>
                </c:pt>
                <c:pt idx="5">
                  <c:v>31492</c:v>
                </c:pt>
                <c:pt idx="6">
                  <c:v>32980</c:v>
                </c:pt>
                <c:pt idx="7">
                  <c:v>33721</c:v>
                </c:pt>
                <c:pt idx="8">
                  <c:v>32233</c:v>
                </c:pt>
                <c:pt idx="9">
                  <c:v>36235</c:v>
                </c:pt>
                <c:pt idx="10">
                  <c:v>35298</c:v>
                </c:pt>
                <c:pt idx="11">
                  <c:v>33573</c:v>
                </c:pt>
                <c:pt idx="12">
                  <c:v>38105</c:v>
                </c:pt>
                <c:pt idx="13">
                  <c:v>34016</c:v>
                </c:pt>
                <c:pt idx="14">
                  <c:v>38688</c:v>
                </c:pt>
                <c:pt idx="15">
                  <c:v>38182</c:v>
                </c:pt>
                <c:pt idx="16">
                  <c:v>37390</c:v>
                </c:pt>
                <c:pt idx="17">
                  <c:v>40885</c:v>
                </c:pt>
                <c:pt idx="18">
                  <c:v>42888</c:v>
                </c:pt>
                <c:pt idx="19">
                  <c:v>42953</c:v>
                </c:pt>
                <c:pt idx="20">
                  <c:v>43248</c:v>
                </c:pt>
                <c:pt idx="21">
                  <c:v>46303</c:v>
                </c:pt>
                <c:pt idx="22">
                  <c:v>43435</c:v>
                </c:pt>
                <c:pt idx="23">
                  <c:v>46016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5F-5B49-AFF0-EDC7F921E2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31115</c:v>
                </c:pt>
                <c:pt idx="1">
                  <c:v>31139</c:v>
                </c:pt>
                <c:pt idx="2">
                  <c:v>30602</c:v>
                </c:pt>
                <c:pt idx="3">
                  <c:v>32462</c:v>
                </c:pt>
                <c:pt idx="4">
                  <c:v>31572</c:v>
                </c:pt>
                <c:pt idx="5">
                  <c:v>31492</c:v>
                </c:pt>
                <c:pt idx="6">
                  <c:v>32980</c:v>
                </c:pt>
                <c:pt idx="7">
                  <c:v>33721</c:v>
                </c:pt>
                <c:pt idx="8">
                  <c:v>32233</c:v>
                </c:pt>
                <c:pt idx="9">
                  <c:v>36235</c:v>
                </c:pt>
                <c:pt idx="10">
                  <c:v>35298</c:v>
                </c:pt>
                <c:pt idx="11">
                  <c:v>33573</c:v>
                </c:pt>
                <c:pt idx="12">
                  <c:v>38105</c:v>
                </c:pt>
                <c:pt idx="13">
                  <c:v>34016</c:v>
                </c:pt>
                <c:pt idx="14">
                  <c:v>38688</c:v>
                </c:pt>
                <c:pt idx="15">
                  <c:v>38182</c:v>
                </c:pt>
                <c:pt idx="16">
                  <c:v>37390</c:v>
                </c:pt>
                <c:pt idx="17">
                  <c:v>40885</c:v>
                </c:pt>
                <c:pt idx="18">
                  <c:v>42888</c:v>
                </c:pt>
                <c:pt idx="19">
                  <c:v>42953</c:v>
                </c:pt>
                <c:pt idx="20">
                  <c:v>43250</c:v>
                </c:pt>
                <c:pt idx="21">
                  <c:v>46323</c:v>
                </c:pt>
                <c:pt idx="22">
                  <c:v>43485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5F-5B49-AFF0-EDC7F921E2F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31115</c:v>
                </c:pt>
                <c:pt idx="1">
                  <c:v>31139</c:v>
                </c:pt>
                <c:pt idx="2">
                  <c:v>30602</c:v>
                </c:pt>
                <c:pt idx="3">
                  <c:v>32462</c:v>
                </c:pt>
                <c:pt idx="4">
                  <c:v>31572</c:v>
                </c:pt>
                <c:pt idx="5">
                  <c:v>31492</c:v>
                </c:pt>
                <c:pt idx="6">
                  <c:v>32980</c:v>
                </c:pt>
                <c:pt idx="7">
                  <c:v>33721</c:v>
                </c:pt>
                <c:pt idx="8">
                  <c:v>32233</c:v>
                </c:pt>
                <c:pt idx="9">
                  <c:v>36235</c:v>
                </c:pt>
                <c:pt idx="10">
                  <c:v>35298</c:v>
                </c:pt>
                <c:pt idx="11">
                  <c:v>33573</c:v>
                </c:pt>
                <c:pt idx="12">
                  <c:v>38105</c:v>
                </c:pt>
                <c:pt idx="13">
                  <c:v>34016</c:v>
                </c:pt>
                <c:pt idx="14">
                  <c:v>38688</c:v>
                </c:pt>
                <c:pt idx="15">
                  <c:v>38182</c:v>
                </c:pt>
                <c:pt idx="16">
                  <c:v>37390</c:v>
                </c:pt>
                <c:pt idx="17">
                  <c:v>40885</c:v>
                </c:pt>
                <c:pt idx="18">
                  <c:v>42888</c:v>
                </c:pt>
                <c:pt idx="19">
                  <c:v>42960</c:v>
                </c:pt>
                <c:pt idx="20">
                  <c:v>43298</c:v>
                </c:pt>
                <c:pt idx="21">
                  <c:v>46315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D5F-5B49-AFF0-EDC7F921E2F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30000</c:v>
                </c:pt>
                <c:pt idx="1">
                  <c:v>30000</c:v>
                </c:pt>
                <c:pt idx="2">
                  <c:v>30000</c:v>
                </c:pt>
                <c:pt idx="3">
                  <c:v>30000</c:v>
                </c:pt>
                <c:pt idx="4">
                  <c:v>30000</c:v>
                </c:pt>
                <c:pt idx="5">
                  <c:v>30000</c:v>
                </c:pt>
                <c:pt idx="6">
                  <c:v>30000</c:v>
                </c:pt>
                <c:pt idx="7">
                  <c:v>30000</c:v>
                </c:pt>
                <c:pt idx="8">
                  <c:v>30000</c:v>
                </c:pt>
                <c:pt idx="9">
                  <c:v>30000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0A-B04C-8B57-F5D3D7DD89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28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3.4918518578662842E-2"/>
          <c:y val="0.94347247954299829"/>
          <c:w val="0.95054665396375915"/>
          <c:h val="4.1821638104060518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Oral Chemo Drugs RX Claims Monthly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24039</c:v>
                </c:pt>
                <c:pt idx="1">
                  <c:v>24023</c:v>
                </c:pt>
                <c:pt idx="2">
                  <c:v>23827</c:v>
                </c:pt>
                <c:pt idx="3">
                  <c:v>24280</c:v>
                </c:pt>
                <c:pt idx="4">
                  <c:v>21636</c:v>
                </c:pt>
                <c:pt idx="5">
                  <c:v>20861</c:v>
                </c:pt>
                <c:pt idx="6">
                  <c:v>22107</c:v>
                </c:pt>
                <c:pt idx="7">
                  <c:v>21846</c:v>
                </c:pt>
                <c:pt idx="8">
                  <c:v>21593</c:v>
                </c:pt>
                <c:pt idx="9">
                  <c:v>24217</c:v>
                </c:pt>
                <c:pt idx="10">
                  <c:v>23601</c:v>
                </c:pt>
                <c:pt idx="11">
                  <c:v>22127</c:v>
                </c:pt>
                <c:pt idx="12">
                  <c:v>24597</c:v>
                </c:pt>
                <c:pt idx="13">
                  <c:v>21514</c:v>
                </c:pt>
                <c:pt idx="14">
                  <c:v>23952</c:v>
                </c:pt>
                <c:pt idx="15">
                  <c:v>22681</c:v>
                </c:pt>
                <c:pt idx="16">
                  <c:v>20966</c:v>
                </c:pt>
                <c:pt idx="17">
                  <c:v>22371</c:v>
                </c:pt>
                <c:pt idx="18">
                  <c:v>22757</c:v>
                </c:pt>
                <c:pt idx="19">
                  <c:v>21672</c:v>
                </c:pt>
                <c:pt idx="20">
                  <c:v>21114</c:v>
                </c:pt>
                <c:pt idx="21">
                  <c:v>21168</c:v>
                </c:pt>
                <c:pt idx="22">
                  <c:v>19352</c:v>
                </c:pt>
                <c:pt idx="23">
                  <c:v>19848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8F-624F-87A3-D7F2B27457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24039</c:v>
                </c:pt>
                <c:pt idx="1">
                  <c:v>24023</c:v>
                </c:pt>
                <c:pt idx="2">
                  <c:v>23827</c:v>
                </c:pt>
                <c:pt idx="3">
                  <c:v>24280</c:v>
                </c:pt>
                <c:pt idx="4">
                  <c:v>21636</c:v>
                </c:pt>
                <c:pt idx="5">
                  <c:v>20861</c:v>
                </c:pt>
                <c:pt idx="6">
                  <c:v>22107</c:v>
                </c:pt>
                <c:pt idx="7">
                  <c:v>21846</c:v>
                </c:pt>
                <c:pt idx="8">
                  <c:v>21593</c:v>
                </c:pt>
                <c:pt idx="9">
                  <c:v>24217</c:v>
                </c:pt>
                <c:pt idx="10">
                  <c:v>23601</c:v>
                </c:pt>
                <c:pt idx="11">
                  <c:v>22127</c:v>
                </c:pt>
                <c:pt idx="12">
                  <c:v>24597</c:v>
                </c:pt>
                <c:pt idx="13">
                  <c:v>21514</c:v>
                </c:pt>
                <c:pt idx="14">
                  <c:v>23952</c:v>
                </c:pt>
                <c:pt idx="15">
                  <c:v>22681</c:v>
                </c:pt>
                <c:pt idx="16">
                  <c:v>20966</c:v>
                </c:pt>
                <c:pt idx="17">
                  <c:v>22371</c:v>
                </c:pt>
                <c:pt idx="18">
                  <c:v>22757</c:v>
                </c:pt>
                <c:pt idx="19">
                  <c:v>21672</c:v>
                </c:pt>
                <c:pt idx="20">
                  <c:v>21114</c:v>
                </c:pt>
                <c:pt idx="21">
                  <c:v>21177</c:v>
                </c:pt>
                <c:pt idx="22">
                  <c:v>19368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8F-624F-87A3-D7F2B27457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24039</c:v>
                </c:pt>
                <c:pt idx="1">
                  <c:v>24023</c:v>
                </c:pt>
                <c:pt idx="2">
                  <c:v>23827</c:v>
                </c:pt>
                <c:pt idx="3">
                  <c:v>24280</c:v>
                </c:pt>
                <c:pt idx="4">
                  <c:v>21636</c:v>
                </c:pt>
                <c:pt idx="5">
                  <c:v>20861</c:v>
                </c:pt>
                <c:pt idx="6">
                  <c:v>22107</c:v>
                </c:pt>
                <c:pt idx="7">
                  <c:v>21846</c:v>
                </c:pt>
                <c:pt idx="8">
                  <c:v>21593</c:v>
                </c:pt>
                <c:pt idx="9">
                  <c:v>24217</c:v>
                </c:pt>
                <c:pt idx="10">
                  <c:v>23601</c:v>
                </c:pt>
                <c:pt idx="11">
                  <c:v>22127</c:v>
                </c:pt>
                <c:pt idx="12">
                  <c:v>24597</c:v>
                </c:pt>
                <c:pt idx="13">
                  <c:v>21514</c:v>
                </c:pt>
                <c:pt idx="14">
                  <c:v>23952</c:v>
                </c:pt>
                <c:pt idx="15">
                  <c:v>22681</c:v>
                </c:pt>
                <c:pt idx="16">
                  <c:v>20966</c:v>
                </c:pt>
                <c:pt idx="17">
                  <c:v>22371</c:v>
                </c:pt>
                <c:pt idx="18">
                  <c:v>22757</c:v>
                </c:pt>
                <c:pt idx="19">
                  <c:v>21672</c:v>
                </c:pt>
                <c:pt idx="20">
                  <c:v>21152</c:v>
                </c:pt>
                <c:pt idx="21">
                  <c:v>21174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98F-624F-87A3-D7F2B274579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24000</c:v>
                </c:pt>
                <c:pt idx="1">
                  <c:v>24000</c:v>
                </c:pt>
                <c:pt idx="2">
                  <c:v>24000</c:v>
                </c:pt>
                <c:pt idx="3">
                  <c:v>24000</c:v>
                </c:pt>
                <c:pt idx="4">
                  <c:v>24000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24000</c:v>
                </c:pt>
                <c:pt idx="9">
                  <c:v>24000</c:v>
                </c:pt>
                <c:pt idx="10">
                  <c:v>24000</c:v>
                </c:pt>
                <c:pt idx="11">
                  <c:v>24000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FE-8049-9421-15DB4F9839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64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8282748100000161E-2"/>
          <c:y val="0.94228421334720547"/>
          <c:w val="0.95829649934666705"/>
          <c:h val="4.2700771637779515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Hormonal Drugs RX Claims Monthly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579973</c:v>
                </c:pt>
                <c:pt idx="1">
                  <c:v>550882</c:v>
                </c:pt>
                <c:pt idx="2">
                  <c:v>540213</c:v>
                </c:pt>
                <c:pt idx="3">
                  <c:v>544149</c:v>
                </c:pt>
                <c:pt idx="4">
                  <c:v>482531</c:v>
                </c:pt>
                <c:pt idx="5">
                  <c:v>489923</c:v>
                </c:pt>
                <c:pt idx="6">
                  <c:v>504855</c:v>
                </c:pt>
                <c:pt idx="7">
                  <c:v>502745</c:v>
                </c:pt>
                <c:pt idx="8">
                  <c:v>484486</c:v>
                </c:pt>
                <c:pt idx="9">
                  <c:v>506866</c:v>
                </c:pt>
                <c:pt idx="10">
                  <c:v>481541</c:v>
                </c:pt>
                <c:pt idx="11">
                  <c:v>461898</c:v>
                </c:pt>
                <c:pt idx="12">
                  <c:v>493180</c:v>
                </c:pt>
                <c:pt idx="13">
                  <c:v>445885</c:v>
                </c:pt>
                <c:pt idx="14">
                  <c:v>469872</c:v>
                </c:pt>
                <c:pt idx="15">
                  <c:v>470716</c:v>
                </c:pt>
                <c:pt idx="16">
                  <c:v>429376</c:v>
                </c:pt>
                <c:pt idx="17">
                  <c:v>470757</c:v>
                </c:pt>
                <c:pt idx="18">
                  <c:v>475190</c:v>
                </c:pt>
                <c:pt idx="19">
                  <c:v>477988</c:v>
                </c:pt>
                <c:pt idx="20">
                  <c:v>467342</c:v>
                </c:pt>
                <c:pt idx="21">
                  <c:v>488434</c:v>
                </c:pt>
                <c:pt idx="22">
                  <c:v>474901</c:v>
                </c:pt>
                <c:pt idx="23">
                  <c:v>487145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5D-B945-8EB8-F2659DC25D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579973</c:v>
                </c:pt>
                <c:pt idx="1">
                  <c:v>550882</c:v>
                </c:pt>
                <c:pt idx="2">
                  <c:v>540213</c:v>
                </c:pt>
                <c:pt idx="3">
                  <c:v>544149</c:v>
                </c:pt>
                <c:pt idx="4">
                  <c:v>482531</c:v>
                </c:pt>
                <c:pt idx="5">
                  <c:v>489923</c:v>
                </c:pt>
                <c:pt idx="6">
                  <c:v>504855</c:v>
                </c:pt>
                <c:pt idx="7">
                  <c:v>502745</c:v>
                </c:pt>
                <c:pt idx="8">
                  <c:v>484486</c:v>
                </c:pt>
                <c:pt idx="9">
                  <c:v>506866</c:v>
                </c:pt>
                <c:pt idx="10">
                  <c:v>481541</c:v>
                </c:pt>
                <c:pt idx="11">
                  <c:v>461898</c:v>
                </c:pt>
                <c:pt idx="12">
                  <c:v>493180</c:v>
                </c:pt>
                <c:pt idx="13">
                  <c:v>445885</c:v>
                </c:pt>
                <c:pt idx="14">
                  <c:v>469872</c:v>
                </c:pt>
                <c:pt idx="15">
                  <c:v>470716</c:v>
                </c:pt>
                <c:pt idx="16">
                  <c:v>429376</c:v>
                </c:pt>
                <c:pt idx="17">
                  <c:v>470757</c:v>
                </c:pt>
                <c:pt idx="18">
                  <c:v>475190</c:v>
                </c:pt>
                <c:pt idx="19">
                  <c:v>477988</c:v>
                </c:pt>
                <c:pt idx="20">
                  <c:v>467332</c:v>
                </c:pt>
                <c:pt idx="21">
                  <c:v>488653</c:v>
                </c:pt>
                <c:pt idx="22">
                  <c:v>475372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5D-B945-8EB8-F2659DC25DF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579973</c:v>
                </c:pt>
                <c:pt idx="1">
                  <c:v>550882</c:v>
                </c:pt>
                <c:pt idx="2">
                  <c:v>540213</c:v>
                </c:pt>
                <c:pt idx="3">
                  <c:v>544149</c:v>
                </c:pt>
                <c:pt idx="4">
                  <c:v>482531</c:v>
                </c:pt>
                <c:pt idx="5">
                  <c:v>489923</c:v>
                </c:pt>
                <c:pt idx="6">
                  <c:v>504855</c:v>
                </c:pt>
                <c:pt idx="7">
                  <c:v>502745</c:v>
                </c:pt>
                <c:pt idx="8">
                  <c:v>484486</c:v>
                </c:pt>
                <c:pt idx="9">
                  <c:v>506866</c:v>
                </c:pt>
                <c:pt idx="10">
                  <c:v>481541</c:v>
                </c:pt>
                <c:pt idx="11">
                  <c:v>461898</c:v>
                </c:pt>
                <c:pt idx="12">
                  <c:v>493180</c:v>
                </c:pt>
                <c:pt idx="13">
                  <c:v>445885</c:v>
                </c:pt>
                <c:pt idx="14">
                  <c:v>469872</c:v>
                </c:pt>
                <c:pt idx="15">
                  <c:v>470716</c:v>
                </c:pt>
                <c:pt idx="16">
                  <c:v>429376</c:v>
                </c:pt>
                <c:pt idx="17">
                  <c:v>470757</c:v>
                </c:pt>
                <c:pt idx="18">
                  <c:v>475190</c:v>
                </c:pt>
                <c:pt idx="19">
                  <c:v>477937</c:v>
                </c:pt>
                <c:pt idx="20">
                  <c:v>467284</c:v>
                </c:pt>
                <c:pt idx="21">
                  <c:v>469777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45D-B945-8EB8-F2659DC25DF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570000</c:v>
                </c:pt>
                <c:pt idx="1">
                  <c:v>570000</c:v>
                </c:pt>
                <c:pt idx="2">
                  <c:v>570000</c:v>
                </c:pt>
                <c:pt idx="3">
                  <c:v>570000</c:v>
                </c:pt>
                <c:pt idx="4">
                  <c:v>570000</c:v>
                </c:pt>
                <c:pt idx="5">
                  <c:v>570000</c:v>
                </c:pt>
                <c:pt idx="6">
                  <c:v>570000</c:v>
                </c:pt>
                <c:pt idx="7">
                  <c:v>570000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DC-A649-9EF3-91C1A368C2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58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2490365930166043E-2"/>
          <c:y val="0.94438926885263275"/>
          <c:w val="0.96601387198321498"/>
          <c:h val="4.1143355553981825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Targeted Therapy Drugs MX Claims Monthly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68780</c:v>
                </c:pt>
                <c:pt idx="1">
                  <c:v>68168</c:v>
                </c:pt>
                <c:pt idx="2">
                  <c:v>63651</c:v>
                </c:pt>
                <c:pt idx="3">
                  <c:v>68785</c:v>
                </c:pt>
                <c:pt idx="4">
                  <c:v>55813</c:v>
                </c:pt>
                <c:pt idx="5">
                  <c:v>50944</c:v>
                </c:pt>
                <c:pt idx="6">
                  <c:v>57407</c:v>
                </c:pt>
                <c:pt idx="7">
                  <c:v>60130</c:v>
                </c:pt>
                <c:pt idx="8">
                  <c:v>52716</c:v>
                </c:pt>
                <c:pt idx="9">
                  <c:v>58984</c:v>
                </c:pt>
                <c:pt idx="10">
                  <c:v>59647</c:v>
                </c:pt>
                <c:pt idx="11">
                  <c:v>55305</c:v>
                </c:pt>
                <c:pt idx="12">
                  <c:v>63936</c:v>
                </c:pt>
                <c:pt idx="13">
                  <c:v>53959</c:v>
                </c:pt>
                <c:pt idx="14">
                  <c:v>60760</c:v>
                </c:pt>
                <c:pt idx="15">
                  <c:v>61949</c:v>
                </c:pt>
                <c:pt idx="16">
                  <c:v>54759</c:v>
                </c:pt>
                <c:pt idx="17">
                  <c:v>56896</c:v>
                </c:pt>
                <c:pt idx="18">
                  <c:v>59305</c:v>
                </c:pt>
                <c:pt idx="19">
                  <c:v>59609</c:v>
                </c:pt>
                <c:pt idx="20">
                  <c:v>56810</c:v>
                </c:pt>
                <c:pt idx="21">
                  <c:v>61704</c:v>
                </c:pt>
                <c:pt idx="22">
                  <c:v>57550</c:v>
                </c:pt>
                <c:pt idx="23">
                  <c:v>44749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FD-584D-8E13-417366FDF0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68780</c:v>
                </c:pt>
                <c:pt idx="1">
                  <c:v>68168</c:v>
                </c:pt>
                <c:pt idx="2">
                  <c:v>63651</c:v>
                </c:pt>
                <c:pt idx="3">
                  <c:v>68785</c:v>
                </c:pt>
                <c:pt idx="4">
                  <c:v>55813</c:v>
                </c:pt>
                <c:pt idx="5">
                  <c:v>50944</c:v>
                </c:pt>
                <c:pt idx="6">
                  <c:v>57407</c:v>
                </c:pt>
                <c:pt idx="7">
                  <c:v>60130</c:v>
                </c:pt>
                <c:pt idx="8">
                  <c:v>52716</c:v>
                </c:pt>
                <c:pt idx="9">
                  <c:v>58984</c:v>
                </c:pt>
                <c:pt idx="10">
                  <c:v>59647</c:v>
                </c:pt>
                <c:pt idx="11">
                  <c:v>55305</c:v>
                </c:pt>
                <c:pt idx="12">
                  <c:v>63936</c:v>
                </c:pt>
                <c:pt idx="13">
                  <c:v>53959</c:v>
                </c:pt>
                <c:pt idx="14">
                  <c:v>60760</c:v>
                </c:pt>
                <c:pt idx="15">
                  <c:v>61949</c:v>
                </c:pt>
                <c:pt idx="16">
                  <c:v>54759</c:v>
                </c:pt>
                <c:pt idx="17">
                  <c:v>56896</c:v>
                </c:pt>
                <c:pt idx="18">
                  <c:v>59301</c:v>
                </c:pt>
                <c:pt idx="19">
                  <c:v>59603</c:v>
                </c:pt>
                <c:pt idx="20">
                  <c:v>56741</c:v>
                </c:pt>
                <c:pt idx="21">
                  <c:v>60851</c:v>
                </c:pt>
                <c:pt idx="22">
                  <c:v>44945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FD-584D-8E13-417366FDF0F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57831</c:v>
                </c:pt>
                <c:pt idx="1">
                  <c:v>57290</c:v>
                </c:pt>
                <c:pt idx="2">
                  <c:v>53714</c:v>
                </c:pt>
                <c:pt idx="3">
                  <c:v>55867</c:v>
                </c:pt>
                <c:pt idx="4">
                  <c:v>43718</c:v>
                </c:pt>
                <c:pt idx="5">
                  <c:v>38147</c:v>
                </c:pt>
                <c:pt idx="6">
                  <c:v>44410</c:v>
                </c:pt>
                <c:pt idx="7">
                  <c:v>46780</c:v>
                </c:pt>
                <c:pt idx="8">
                  <c:v>41271</c:v>
                </c:pt>
                <c:pt idx="9">
                  <c:v>46284</c:v>
                </c:pt>
                <c:pt idx="10">
                  <c:v>47108</c:v>
                </c:pt>
                <c:pt idx="11">
                  <c:v>43847</c:v>
                </c:pt>
                <c:pt idx="12">
                  <c:v>50677</c:v>
                </c:pt>
                <c:pt idx="13">
                  <c:v>42463</c:v>
                </c:pt>
                <c:pt idx="14">
                  <c:v>47999</c:v>
                </c:pt>
                <c:pt idx="15">
                  <c:v>48575</c:v>
                </c:pt>
                <c:pt idx="16">
                  <c:v>44055</c:v>
                </c:pt>
                <c:pt idx="17">
                  <c:v>46215</c:v>
                </c:pt>
                <c:pt idx="18">
                  <c:v>48594</c:v>
                </c:pt>
                <c:pt idx="19">
                  <c:v>58501</c:v>
                </c:pt>
                <c:pt idx="20">
                  <c:v>54924</c:v>
                </c:pt>
                <c:pt idx="21">
                  <c:v>35445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FD-584D-8E13-417366FDF0F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57000</c:v>
                </c:pt>
                <c:pt idx="1">
                  <c:v>57000</c:v>
                </c:pt>
                <c:pt idx="2">
                  <c:v>57000</c:v>
                </c:pt>
                <c:pt idx="3">
                  <c:v>57000</c:v>
                </c:pt>
                <c:pt idx="4">
                  <c:v>57000</c:v>
                </c:pt>
                <c:pt idx="5">
                  <c:v>57000</c:v>
                </c:pt>
                <c:pt idx="6">
                  <c:v>57000</c:v>
                </c:pt>
                <c:pt idx="7">
                  <c:v>57000</c:v>
                </c:pt>
                <c:pt idx="8">
                  <c:v>57000</c:v>
                </c:pt>
                <c:pt idx="9">
                  <c:v>57000</c:v>
                </c:pt>
                <c:pt idx="10">
                  <c:v>57000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2D-004F-93B3-44A7E50664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100000" vert="horz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6905823693334652E-2"/>
          <c:y val="0.94175952437763466"/>
          <c:w val="0.95776232542691442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Chemo Drugs MX Claims Monthly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423212</c:v>
                </c:pt>
                <c:pt idx="1">
                  <c:v>404872</c:v>
                </c:pt>
                <c:pt idx="2">
                  <c:v>365013</c:v>
                </c:pt>
                <c:pt idx="3">
                  <c:v>418869</c:v>
                </c:pt>
                <c:pt idx="4">
                  <c:v>330999</c:v>
                </c:pt>
                <c:pt idx="5">
                  <c:v>305681</c:v>
                </c:pt>
                <c:pt idx="6">
                  <c:v>349020</c:v>
                </c:pt>
                <c:pt idx="7">
                  <c:v>341773</c:v>
                </c:pt>
                <c:pt idx="8">
                  <c:v>304930</c:v>
                </c:pt>
                <c:pt idx="9">
                  <c:v>348237</c:v>
                </c:pt>
                <c:pt idx="10">
                  <c:v>321787</c:v>
                </c:pt>
                <c:pt idx="11">
                  <c:v>312576</c:v>
                </c:pt>
                <c:pt idx="12">
                  <c:v>355694</c:v>
                </c:pt>
                <c:pt idx="13">
                  <c:v>296799</c:v>
                </c:pt>
                <c:pt idx="14">
                  <c:v>335858</c:v>
                </c:pt>
                <c:pt idx="15">
                  <c:v>329525</c:v>
                </c:pt>
                <c:pt idx="16">
                  <c:v>303640</c:v>
                </c:pt>
                <c:pt idx="17">
                  <c:v>323515</c:v>
                </c:pt>
                <c:pt idx="18">
                  <c:v>343894</c:v>
                </c:pt>
                <c:pt idx="19">
                  <c:v>322565</c:v>
                </c:pt>
                <c:pt idx="20">
                  <c:v>323617</c:v>
                </c:pt>
                <c:pt idx="21">
                  <c:v>347851</c:v>
                </c:pt>
                <c:pt idx="22">
                  <c:v>309626</c:v>
                </c:pt>
                <c:pt idx="23">
                  <c:v>249571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B1-9449-9BA7-D2963FF4D3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423202</c:v>
                </c:pt>
                <c:pt idx="1">
                  <c:v>404872</c:v>
                </c:pt>
                <c:pt idx="2">
                  <c:v>365010</c:v>
                </c:pt>
                <c:pt idx="3">
                  <c:v>418863</c:v>
                </c:pt>
                <c:pt idx="4">
                  <c:v>330994</c:v>
                </c:pt>
                <c:pt idx="5">
                  <c:v>305673</c:v>
                </c:pt>
                <c:pt idx="6">
                  <c:v>349011</c:v>
                </c:pt>
                <c:pt idx="7">
                  <c:v>341764</c:v>
                </c:pt>
                <c:pt idx="8">
                  <c:v>304919</c:v>
                </c:pt>
                <c:pt idx="9">
                  <c:v>348227</c:v>
                </c:pt>
                <c:pt idx="10">
                  <c:v>321763</c:v>
                </c:pt>
                <c:pt idx="11">
                  <c:v>312566</c:v>
                </c:pt>
                <c:pt idx="12">
                  <c:v>355676</c:v>
                </c:pt>
                <c:pt idx="13">
                  <c:v>296782</c:v>
                </c:pt>
                <c:pt idx="14">
                  <c:v>335828</c:v>
                </c:pt>
                <c:pt idx="15">
                  <c:v>329486</c:v>
                </c:pt>
                <c:pt idx="16">
                  <c:v>303618</c:v>
                </c:pt>
                <c:pt idx="17">
                  <c:v>323476</c:v>
                </c:pt>
                <c:pt idx="18">
                  <c:v>343795</c:v>
                </c:pt>
                <c:pt idx="19">
                  <c:v>322488</c:v>
                </c:pt>
                <c:pt idx="20">
                  <c:v>323124</c:v>
                </c:pt>
                <c:pt idx="21">
                  <c:v>341839</c:v>
                </c:pt>
                <c:pt idx="22">
                  <c:v>239035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AB1-9449-9BA7-D2963FF4D3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359696</c:v>
                </c:pt>
                <c:pt idx="1">
                  <c:v>344210</c:v>
                </c:pt>
                <c:pt idx="2">
                  <c:v>312341</c:v>
                </c:pt>
                <c:pt idx="3">
                  <c:v>346503</c:v>
                </c:pt>
                <c:pt idx="4">
                  <c:v>263528</c:v>
                </c:pt>
                <c:pt idx="5">
                  <c:v>233614</c:v>
                </c:pt>
                <c:pt idx="6">
                  <c:v>274251</c:v>
                </c:pt>
                <c:pt idx="7">
                  <c:v>268911</c:v>
                </c:pt>
                <c:pt idx="8">
                  <c:v>239810</c:v>
                </c:pt>
                <c:pt idx="9">
                  <c:v>276305</c:v>
                </c:pt>
                <c:pt idx="10">
                  <c:v>256653</c:v>
                </c:pt>
                <c:pt idx="11">
                  <c:v>251197</c:v>
                </c:pt>
                <c:pt idx="12">
                  <c:v>287885</c:v>
                </c:pt>
                <c:pt idx="13">
                  <c:v>240822</c:v>
                </c:pt>
                <c:pt idx="14">
                  <c:v>274026</c:v>
                </c:pt>
                <c:pt idx="15">
                  <c:v>267892</c:v>
                </c:pt>
                <c:pt idx="16">
                  <c:v>254828</c:v>
                </c:pt>
                <c:pt idx="17">
                  <c:v>280268</c:v>
                </c:pt>
                <c:pt idx="18">
                  <c:v>305242</c:v>
                </c:pt>
                <c:pt idx="19">
                  <c:v>318223</c:v>
                </c:pt>
                <c:pt idx="20">
                  <c:v>310346</c:v>
                </c:pt>
                <c:pt idx="21">
                  <c:v>194703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AB1-9449-9BA7-D2963FF4D3E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350000</c:v>
                </c:pt>
                <c:pt idx="1">
                  <c:v>350000</c:v>
                </c:pt>
                <c:pt idx="2">
                  <c:v>350000</c:v>
                </c:pt>
                <c:pt idx="3">
                  <c:v>350000</c:v>
                </c:pt>
                <c:pt idx="4">
                  <c:v>350000</c:v>
                </c:pt>
                <c:pt idx="5">
                  <c:v>350000</c:v>
                </c:pt>
                <c:pt idx="6">
                  <c:v>350000</c:v>
                </c:pt>
                <c:pt idx="7">
                  <c:v>350000</c:v>
                </c:pt>
                <c:pt idx="8">
                  <c:v>350000</c:v>
                </c:pt>
                <c:pt idx="9">
                  <c:v>350000</c:v>
                </c:pt>
                <c:pt idx="10">
                  <c:v>350000</c:v>
                </c:pt>
                <c:pt idx="11">
                  <c:v>350000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40-0643-BDBA-CC54400A88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16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1.880841853723509E-2"/>
          <c:y val="0.94178472414211856"/>
          <c:w val="0.96487062717906535"/>
          <c:h val="4.307031653561242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 err="1"/>
              <a:t>Trodelvy</a:t>
            </a:r>
            <a:r>
              <a:rPr lang="en-IN" sz="1200" dirty="0"/>
              <a:t> MX Claims Monthly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7372</c:v>
                </c:pt>
                <c:pt idx="1">
                  <c:v>7494</c:v>
                </c:pt>
                <c:pt idx="2">
                  <c:v>6959</c:v>
                </c:pt>
                <c:pt idx="3">
                  <c:v>7724</c:v>
                </c:pt>
                <c:pt idx="4">
                  <c:v>6304</c:v>
                </c:pt>
                <c:pt idx="5">
                  <c:v>5733</c:v>
                </c:pt>
                <c:pt idx="6">
                  <c:v>6412</c:v>
                </c:pt>
                <c:pt idx="7">
                  <c:v>6780</c:v>
                </c:pt>
                <c:pt idx="8">
                  <c:v>5825</c:v>
                </c:pt>
                <c:pt idx="9">
                  <c:v>6470</c:v>
                </c:pt>
                <c:pt idx="10">
                  <c:v>6508</c:v>
                </c:pt>
                <c:pt idx="11">
                  <c:v>5979</c:v>
                </c:pt>
                <c:pt idx="12">
                  <c:v>6812</c:v>
                </c:pt>
                <c:pt idx="13">
                  <c:v>5810</c:v>
                </c:pt>
                <c:pt idx="14">
                  <c:v>6240</c:v>
                </c:pt>
                <c:pt idx="15">
                  <c:v>6484</c:v>
                </c:pt>
                <c:pt idx="16">
                  <c:v>5680</c:v>
                </c:pt>
                <c:pt idx="17">
                  <c:v>5989</c:v>
                </c:pt>
                <c:pt idx="18">
                  <c:v>5909</c:v>
                </c:pt>
                <c:pt idx="19">
                  <c:v>5934</c:v>
                </c:pt>
                <c:pt idx="20">
                  <c:v>5562</c:v>
                </c:pt>
                <c:pt idx="21">
                  <c:v>6337</c:v>
                </c:pt>
                <c:pt idx="22">
                  <c:v>5875</c:v>
                </c:pt>
                <c:pt idx="23">
                  <c:v>4624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CF7-8D4C-BA18-D3D73E7B78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7372</c:v>
                </c:pt>
                <c:pt idx="1">
                  <c:v>7494</c:v>
                </c:pt>
                <c:pt idx="2">
                  <c:v>6959</c:v>
                </c:pt>
                <c:pt idx="3">
                  <c:v>7724</c:v>
                </c:pt>
                <c:pt idx="4">
                  <c:v>6304</c:v>
                </c:pt>
                <c:pt idx="5">
                  <c:v>5733</c:v>
                </c:pt>
                <c:pt idx="6">
                  <c:v>6412</c:v>
                </c:pt>
                <c:pt idx="7">
                  <c:v>6780</c:v>
                </c:pt>
                <c:pt idx="8">
                  <c:v>5825</c:v>
                </c:pt>
                <c:pt idx="9">
                  <c:v>6470</c:v>
                </c:pt>
                <c:pt idx="10">
                  <c:v>6508</c:v>
                </c:pt>
                <c:pt idx="11">
                  <c:v>5979</c:v>
                </c:pt>
                <c:pt idx="12">
                  <c:v>6812</c:v>
                </c:pt>
                <c:pt idx="13">
                  <c:v>5810</c:v>
                </c:pt>
                <c:pt idx="14">
                  <c:v>6240</c:v>
                </c:pt>
                <c:pt idx="15">
                  <c:v>6484</c:v>
                </c:pt>
                <c:pt idx="16">
                  <c:v>5680</c:v>
                </c:pt>
                <c:pt idx="17">
                  <c:v>5989</c:v>
                </c:pt>
                <c:pt idx="18">
                  <c:v>5909</c:v>
                </c:pt>
                <c:pt idx="19">
                  <c:v>5934</c:v>
                </c:pt>
                <c:pt idx="20">
                  <c:v>5560</c:v>
                </c:pt>
                <c:pt idx="21">
                  <c:v>6242</c:v>
                </c:pt>
                <c:pt idx="22">
                  <c:v>4595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CF7-8D4C-BA18-D3D73E7B78A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6151</c:v>
                </c:pt>
                <c:pt idx="1">
                  <c:v>6211</c:v>
                </c:pt>
                <c:pt idx="2">
                  <c:v>5776</c:v>
                </c:pt>
                <c:pt idx="3">
                  <c:v>6167</c:v>
                </c:pt>
                <c:pt idx="4">
                  <c:v>4805</c:v>
                </c:pt>
                <c:pt idx="5">
                  <c:v>4131</c:v>
                </c:pt>
                <c:pt idx="6">
                  <c:v>4870</c:v>
                </c:pt>
                <c:pt idx="7">
                  <c:v>5174</c:v>
                </c:pt>
                <c:pt idx="8">
                  <c:v>4464</c:v>
                </c:pt>
                <c:pt idx="9">
                  <c:v>4938</c:v>
                </c:pt>
                <c:pt idx="10">
                  <c:v>4912</c:v>
                </c:pt>
                <c:pt idx="11">
                  <c:v>4596</c:v>
                </c:pt>
                <c:pt idx="12">
                  <c:v>5308</c:v>
                </c:pt>
                <c:pt idx="13">
                  <c:v>4419</c:v>
                </c:pt>
                <c:pt idx="14">
                  <c:v>4857</c:v>
                </c:pt>
                <c:pt idx="15">
                  <c:v>4997</c:v>
                </c:pt>
                <c:pt idx="16">
                  <c:v>4533</c:v>
                </c:pt>
                <c:pt idx="17">
                  <c:v>4742</c:v>
                </c:pt>
                <c:pt idx="18">
                  <c:v>4733</c:v>
                </c:pt>
                <c:pt idx="19">
                  <c:v>5796</c:v>
                </c:pt>
                <c:pt idx="20">
                  <c:v>5390</c:v>
                </c:pt>
                <c:pt idx="21">
                  <c:v>3691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CF7-8D4C-BA18-D3D73E7B78A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6000</c:v>
                </c:pt>
                <c:pt idx="1">
                  <c:v>6000</c:v>
                </c:pt>
                <c:pt idx="2">
                  <c:v>6000</c:v>
                </c:pt>
                <c:pt idx="3">
                  <c:v>6000</c:v>
                </c:pt>
                <c:pt idx="4">
                  <c:v>6000</c:v>
                </c:pt>
                <c:pt idx="5">
                  <c:v>6000</c:v>
                </c:pt>
                <c:pt idx="6">
                  <c:v>6000</c:v>
                </c:pt>
                <c:pt idx="7">
                  <c:v>6000</c:v>
                </c:pt>
                <c:pt idx="8">
                  <c:v>6000</c:v>
                </c:pt>
                <c:pt idx="9">
                  <c:v>6000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AE-4F4D-B86E-1EB34DBB1C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22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1582362282577042E-2"/>
          <c:y val="0.94175952437763466"/>
          <c:w val="0.96303435451527741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 err="1"/>
              <a:t>Enhertu</a:t>
            </a:r>
            <a:r>
              <a:rPr lang="en-IN" sz="1200" dirty="0"/>
              <a:t> MX Claims Monthly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11489</c:v>
                </c:pt>
                <c:pt idx="1">
                  <c:v>11600</c:v>
                </c:pt>
                <c:pt idx="2">
                  <c:v>10942</c:v>
                </c:pt>
                <c:pt idx="3">
                  <c:v>12013</c:v>
                </c:pt>
                <c:pt idx="4">
                  <c:v>10103</c:v>
                </c:pt>
                <c:pt idx="5">
                  <c:v>9065</c:v>
                </c:pt>
                <c:pt idx="6">
                  <c:v>10443</c:v>
                </c:pt>
                <c:pt idx="7">
                  <c:v>11001</c:v>
                </c:pt>
                <c:pt idx="8">
                  <c:v>9723</c:v>
                </c:pt>
                <c:pt idx="9">
                  <c:v>11049</c:v>
                </c:pt>
                <c:pt idx="10">
                  <c:v>11258</c:v>
                </c:pt>
                <c:pt idx="11">
                  <c:v>10794</c:v>
                </c:pt>
                <c:pt idx="12">
                  <c:v>12612</c:v>
                </c:pt>
                <c:pt idx="13">
                  <c:v>10795</c:v>
                </c:pt>
                <c:pt idx="14">
                  <c:v>12186</c:v>
                </c:pt>
                <c:pt idx="15">
                  <c:v>12867</c:v>
                </c:pt>
                <c:pt idx="16">
                  <c:v>11285</c:v>
                </c:pt>
                <c:pt idx="17">
                  <c:v>12141</c:v>
                </c:pt>
                <c:pt idx="18">
                  <c:v>12861</c:v>
                </c:pt>
                <c:pt idx="19">
                  <c:v>13329</c:v>
                </c:pt>
                <c:pt idx="20">
                  <c:v>13022</c:v>
                </c:pt>
                <c:pt idx="21">
                  <c:v>14068</c:v>
                </c:pt>
                <c:pt idx="22">
                  <c:v>13471</c:v>
                </c:pt>
                <c:pt idx="23">
                  <c:v>10458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E3-4E4A-ABB9-4773F3D07E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11489</c:v>
                </c:pt>
                <c:pt idx="1">
                  <c:v>11600</c:v>
                </c:pt>
                <c:pt idx="2">
                  <c:v>10942</c:v>
                </c:pt>
                <c:pt idx="3">
                  <c:v>12013</c:v>
                </c:pt>
                <c:pt idx="4">
                  <c:v>10103</c:v>
                </c:pt>
                <c:pt idx="5">
                  <c:v>9065</c:v>
                </c:pt>
                <c:pt idx="6">
                  <c:v>10443</c:v>
                </c:pt>
                <c:pt idx="7">
                  <c:v>11001</c:v>
                </c:pt>
                <c:pt idx="8">
                  <c:v>9723</c:v>
                </c:pt>
                <c:pt idx="9">
                  <c:v>11049</c:v>
                </c:pt>
                <c:pt idx="10">
                  <c:v>11258</c:v>
                </c:pt>
                <c:pt idx="11">
                  <c:v>10794</c:v>
                </c:pt>
                <c:pt idx="12">
                  <c:v>12612</c:v>
                </c:pt>
                <c:pt idx="13">
                  <c:v>10795</c:v>
                </c:pt>
                <c:pt idx="14">
                  <c:v>12186</c:v>
                </c:pt>
                <c:pt idx="15">
                  <c:v>12867</c:v>
                </c:pt>
                <c:pt idx="16">
                  <c:v>11285</c:v>
                </c:pt>
                <c:pt idx="17">
                  <c:v>12141</c:v>
                </c:pt>
                <c:pt idx="18">
                  <c:v>12861</c:v>
                </c:pt>
                <c:pt idx="19">
                  <c:v>13327</c:v>
                </c:pt>
                <c:pt idx="20">
                  <c:v>13006</c:v>
                </c:pt>
                <c:pt idx="21">
                  <c:v>13875</c:v>
                </c:pt>
                <c:pt idx="22">
                  <c:v>10435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1E3-4E4A-ABB9-4773F3D07E4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9718</c:v>
                </c:pt>
                <c:pt idx="1">
                  <c:v>9735</c:v>
                </c:pt>
                <c:pt idx="2">
                  <c:v>9263</c:v>
                </c:pt>
                <c:pt idx="3">
                  <c:v>9638</c:v>
                </c:pt>
                <c:pt idx="4">
                  <c:v>7756</c:v>
                </c:pt>
                <c:pt idx="5">
                  <c:v>6788</c:v>
                </c:pt>
                <c:pt idx="6">
                  <c:v>8096</c:v>
                </c:pt>
                <c:pt idx="7">
                  <c:v>8557</c:v>
                </c:pt>
                <c:pt idx="8">
                  <c:v>7600</c:v>
                </c:pt>
                <c:pt idx="9">
                  <c:v>8747</c:v>
                </c:pt>
                <c:pt idx="10">
                  <c:v>8960</c:v>
                </c:pt>
                <c:pt idx="11">
                  <c:v>8565</c:v>
                </c:pt>
                <c:pt idx="12">
                  <c:v>10024</c:v>
                </c:pt>
                <c:pt idx="13">
                  <c:v>8450</c:v>
                </c:pt>
                <c:pt idx="14">
                  <c:v>9614</c:v>
                </c:pt>
                <c:pt idx="15">
                  <c:v>10000</c:v>
                </c:pt>
                <c:pt idx="16">
                  <c:v>9074</c:v>
                </c:pt>
                <c:pt idx="17">
                  <c:v>9886</c:v>
                </c:pt>
                <c:pt idx="18">
                  <c:v>10549</c:v>
                </c:pt>
                <c:pt idx="19">
                  <c:v>13066</c:v>
                </c:pt>
                <c:pt idx="20">
                  <c:v>12602</c:v>
                </c:pt>
                <c:pt idx="21">
                  <c:v>8086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1E3-4E4A-ABB9-4773F3D07E4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9000</c:v>
                </c:pt>
                <c:pt idx="1">
                  <c:v>9000</c:v>
                </c:pt>
                <c:pt idx="2">
                  <c:v>9000</c:v>
                </c:pt>
                <c:pt idx="3">
                  <c:v>9000</c:v>
                </c:pt>
                <c:pt idx="4">
                  <c:v>9000</c:v>
                </c:pt>
                <c:pt idx="5">
                  <c:v>9000</c:v>
                </c:pt>
                <c:pt idx="6">
                  <c:v>9000</c:v>
                </c:pt>
                <c:pt idx="7">
                  <c:v>9000</c:v>
                </c:pt>
                <c:pt idx="8">
                  <c:v>9000</c:v>
                </c:pt>
                <c:pt idx="9">
                  <c:v>9000</c:v>
                </c:pt>
                <c:pt idx="10">
                  <c:v>9000</c:v>
                </c:pt>
                <c:pt idx="11">
                  <c:v>9000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20F-BD4C-80DB-91E8002D9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28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6928360407033603E-2"/>
          <c:y val="0.94175952437763466"/>
          <c:w val="0.95481490086990295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 err="1"/>
              <a:t>Datroway</a:t>
            </a:r>
            <a:r>
              <a:rPr lang="en-IN" sz="1200" dirty="0"/>
              <a:t> MX Claims Monthly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2025-02</c:v>
                </c:pt>
                <c:pt idx="1">
                  <c:v>2025-03</c:v>
                </c:pt>
                <c:pt idx="2">
                  <c:v>2025-04</c:v>
                </c:pt>
                <c:pt idx="3">
                  <c:v>2025-05</c:v>
                </c:pt>
                <c:pt idx="4">
                  <c:v>2025-06</c:v>
                </c:pt>
                <c:pt idx="5">
                  <c:v>2025-07</c:v>
                </c:pt>
                <c:pt idx="6">
                  <c:v>2025-08</c:v>
                </c:pt>
                <c:pt idx="7">
                  <c:v>2025-09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</c:v>
                </c:pt>
                <c:pt idx="1">
                  <c:v>56</c:v>
                </c:pt>
                <c:pt idx="2">
                  <c:v>94</c:v>
                </c:pt>
                <c:pt idx="3">
                  <c:v>141</c:v>
                </c:pt>
                <c:pt idx="4">
                  <c:v>187</c:v>
                </c:pt>
                <c:pt idx="5">
                  <c:v>239</c:v>
                </c:pt>
                <c:pt idx="6">
                  <c:v>297</c:v>
                </c:pt>
                <c:pt idx="7">
                  <c:v>275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DD-E948-A701-BF98379031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2025-02</c:v>
                </c:pt>
                <c:pt idx="1">
                  <c:v>2025-03</c:v>
                </c:pt>
                <c:pt idx="2">
                  <c:v>2025-04</c:v>
                </c:pt>
                <c:pt idx="3">
                  <c:v>2025-05</c:v>
                </c:pt>
                <c:pt idx="4">
                  <c:v>2025-06</c:v>
                </c:pt>
                <c:pt idx="5">
                  <c:v>2025-07</c:v>
                </c:pt>
                <c:pt idx="6">
                  <c:v>2025-08</c:v>
                </c:pt>
                <c:pt idx="7">
                  <c:v>2025-09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17</c:v>
                </c:pt>
                <c:pt idx="1">
                  <c:v>56</c:v>
                </c:pt>
                <c:pt idx="2">
                  <c:v>94</c:v>
                </c:pt>
                <c:pt idx="3">
                  <c:v>141</c:v>
                </c:pt>
                <c:pt idx="4">
                  <c:v>187</c:v>
                </c:pt>
                <c:pt idx="5">
                  <c:v>224</c:v>
                </c:pt>
                <c:pt idx="6">
                  <c:v>210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DD-E948-A701-BF983790319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2025-02</c:v>
                </c:pt>
                <c:pt idx="1">
                  <c:v>2025-03</c:v>
                </c:pt>
                <c:pt idx="2">
                  <c:v>2025-04</c:v>
                </c:pt>
                <c:pt idx="3">
                  <c:v>2025-05</c:v>
                </c:pt>
                <c:pt idx="4">
                  <c:v>2025-06</c:v>
                </c:pt>
                <c:pt idx="5">
                  <c:v>2025-07</c:v>
                </c:pt>
                <c:pt idx="6">
                  <c:v>2025-08</c:v>
                </c:pt>
                <c:pt idx="7">
                  <c:v>2025-09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12</c:v>
                </c:pt>
                <c:pt idx="1">
                  <c:v>51</c:v>
                </c:pt>
                <c:pt idx="2">
                  <c:v>63</c:v>
                </c:pt>
                <c:pt idx="3">
                  <c:v>136</c:v>
                </c:pt>
                <c:pt idx="4">
                  <c:v>157</c:v>
                </c:pt>
                <c:pt idx="5">
                  <c:v>105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9DD-E948-A701-BF983790319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2025-02</c:v>
                </c:pt>
                <c:pt idx="1">
                  <c:v>2025-03</c:v>
                </c:pt>
                <c:pt idx="2">
                  <c:v>2025-04</c:v>
                </c:pt>
                <c:pt idx="3">
                  <c:v>2025-05</c:v>
                </c:pt>
                <c:pt idx="4">
                  <c:v>2025-06</c:v>
                </c:pt>
                <c:pt idx="5">
                  <c:v>2025-07</c:v>
                </c:pt>
                <c:pt idx="6">
                  <c:v>2025-08</c:v>
                </c:pt>
                <c:pt idx="7">
                  <c:v>2025-09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15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71-8F41-B3A7-74E32E33BD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34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0829645381918508E-2"/>
          <c:y val="0.9419104080846239"/>
          <c:w val="0.96928951855470624"/>
          <c:h val="4.2977329821947012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 err="1">
                <a:solidFill>
                  <a:srgbClr val="002060"/>
                </a:solidFill>
              </a:rPr>
              <a:t>Trodelvy</a:t>
            </a:r>
            <a:r>
              <a:rPr lang="en-US" sz="1200" dirty="0">
                <a:solidFill>
                  <a:srgbClr val="002060"/>
                </a:solidFill>
              </a:rPr>
              <a:t> Projection Factor trend (R12M)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Trodelvy Projection Factor trend (R12M)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2024-09</c:v>
                </c:pt>
                <c:pt idx="1">
                  <c:v>2024-10</c:v>
                </c:pt>
                <c:pt idx="2">
                  <c:v>2024-11</c:v>
                </c:pt>
                <c:pt idx="3">
                  <c:v>2024-12</c:v>
                </c:pt>
                <c:pt idx="4">
                  <c:v>2025-01</c:v>
                </c:pt>
                <c:pt idx="5">
                  <c:v>2025-02</c:v>
                </c:pt>
                <c:pt idx="6">
                  <c:v>2025-03</c:v>
                </c:pt>
                <c:pt idx="7">
                  <c:v>2025-04</c:v>
                </c:pt>
                <c:pt idx="8">
                  <c:v>2025-05</c:v>
                </c:pt>
                <c:pt idx="9">
                  <c:v>2025-06</c:v>
                </c:pt>
                <c:pt idx="10">
                  <c:v>2025-07</c:v>
                </c:pt>
                <c:pt idx="11">
                  <c:v>2025-08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2.15</c:v>
                </c:pt>
                <c:pt idx="1">
                  <c:v>2.17</c:v>
                </c:pt>
                <c:pt idx="2">
                  <c:v>2.2200000000000002</c:v>
                </c:pt>
                <c:pt idx="3">
                  <c:v>2.2400000000000002</c:v>
                </c:pt>
                <c:pt idx="4">
                  <c:v>2.2599999999999998</c:v>
                </c:pt>
                <c:pt idx="5">
                  <c:v>2.2799999999999998</c:v>
                </c:pt>
                <c:pt idx="6">
                  <c:v>2.27</c:v>
                </c:pt>
                <c:pt idx="7">
                  <c:v>2.27</c:v>
                </c:pt>
                <c:pt idx="8">
                  <c:v>2.2599999999999998</c:v>
                </c:pt>
                <c:pt idx="9">
                  <c:v>2.25</c:v>
                </c:pt>
                <c:pt idx="10">
                  <c:v>2.25</c:v>
                </c:pt>
                <c:pt idx="11">
                  <c:v>2.2599999999999998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65-2145-B5B3-C7762F9B0E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78381328"/>
        <c:axId val="1789725088"/>
      </c:lineChart>
      <c:catAx>
        <c:axId val="117838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9725088"/>
        <c:crosses val="autoZero"/>
        <c:auto val="1"/>
        <c:lblAlgn val="ctr"/>
        <c:lblOffset val="100"/>
        <c:noMultiLvlLbl val="0"/>
      </c:catAx>
      <c:valAx>
        <c:axId val="178972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8381328"/>
        <c:crosses val="autoZero"/>
        <c:crossBetween val="between"/>
      </c:valAx>
      <c:spPr>
        <a:noFill/>
        <a:ln>
          <a:solidFill>
            <a:schemeClr val="accent1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 b="1" i="0" u="none" strike="noStrike" kern="1200" baseline="0" dirty="0">
                <a:solidFill>
                  <a:srgbClr val="003366"/>
                </a:solidFill>
              </a:rPr>
              <a:t>Infusion Drugs Projection Factor trend (R12M)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Infusion Drugs Projection Factor trend (R12M)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2024-09</c:v>
                </c:pt>
                <c:pt idx="1">
                  <c:v>2024-10</c:v>
                </c:pt>
                <c:pt idx="2">
                  <c:v>2024-11</c:v>
                </c:pt>
                <c:pt idx="3">
                  <c:v>2024-12</c:v>
                </c:pt>
                <c:pt idx="4">
                  <c:v>2025-01</c:v>
                </c:pt>
                <c:pt idx="5">
                  <c:v>2025-02</c:v>
                </c:pt>
                <c:pt idx="6">
                  <c:v>2025-03</c:v>
                </c:pt>
                <c:pt idx="7">
                  <c:v>2025-04</c:v>
                </c:pt>
                <c:pt idx="8">
                  <c:v>2025-05</c:v>
                </c:pt>
                <c:pt idx="9">
                  <c:v>2025-06</c:v>
                </c:pt>
                <c:pt idx="10">
                  <c:v>2025-07</c:v>
                </c:pt>
                <c:pt idx="11">
                  <c:v>2025-08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1.86</c:v>
                </c:pt>
                <c:pt idx="1">
                  <c:v>1.86</c:v>
                </c:pt>
                <c:pt idx="2">
                  <c:v>1.86</c:v>
                </c:pt>
                <c:pt idx="3">
                  <c:v>1.83</c:v>
                </c:pt>
                <c:pt idx="4">
                  <c:v>1.84</c:v>
                </c:pt>
                <c:pt idx="5">
                  <c:v>1.9</c:v>
                </c:pt>
                <c:pt idx="6">
                  <c:v>1.89</c:v>
                </c:pt>
                <c:pt idx="7">
                  <c:v>1.89</c:v>
                </c:pt>
                <c:pt idx="8">
                  <c:v>1.87</c:v>
                </c:pt>
                <c:pt idx="9">
                  <c:v>1.85</c:v>
                </c:pt>
                <c:pt idx="10">
                  <c:v>1.84</c:v>
                </c:pt>
                <c:pt idx="11">
                  <c:v>1.87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73C-5C4F-BFB1-CD473F485B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78381328"/>
        <c:axId val="1789725088"/>
      </c:lineChart>
      <c:catAx>
        <c:axId val="117838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9725088"/>
        <c:crosses val="autoZero"/>
        <c:auto val="1"/>
        <c:lblAlgn val="ctr"/>
        <c:lblOffset val="100"/>
        <c:noMultiLvlLbl val="0"/>
      </c:catAx>
      <c:valAx>
        <c:axId val="178972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8381328"/>
        <c:crosses val="autoZero"/>
        <c:crossBetween val="between"/>
      </c:valAx>
      <c:spPr>
        <a:noFill/>
        <a:ln>
          <a:solidFill>
            <a:schemeClr val="accent1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 b="1" i="0" u="none" strike="noStrike" kern="1200" baseline="0" dirty="0">
                <a:solidFill>
                  <a:srgbClr val="003366"/>
                </a:solidFill>
              </a:rPr>
              <a:t>Oral Projection Factor trend (R12M)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Oral Projection Factor trend (R12M)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2024-09</c:v>
                </c:pt>
                <c:pt idx="1">
                  <c:v>2024-10</c:v>
                </c:pt>
                <c:pt idx="2">
                  <c:v>2024-11</c:v>
                </c:pt>
                <c:pt idx="3">
                  <c:v>2024-12</c:v>
                </c:pt>
                <c:pt idx="4">
                  <c:v>2025-01</c:v>
                </c:pt>
                <c:pt idx="5">
                  <c:v>2025-02</c:v>
                </c:pt>
                <c:pt idx="6">
                  <c:v>2025-03</c:v>
                </c:pt>
                <c:pt idx="7">
                  <c:v>2025-04</c:v>
                </c:pt>
                <c:pt idx="8">
                  <c:v>2025-05</c:v>
                </c:pt>
                <c:pt idx="9">
                  <c:v>2025-06</c:v>
                </c:pt>
                <c:pt idx="10">
                  <c:v>2025-07</c:v>
                </c:pt>
                <c:pt idx="11">
                  <c:v>2025-08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1.42</c:v>
                </c:pt>
                <c:pt idx="1">
                  <c:v>1.39</c:v>
                </c:pt>
                <c:pt idx="2">
                  <c:v>1.38</c:v>
                </c:pt>
                <c:pt idx="3">
                  <c:v>1.36</c:v>
                </c:pt>
                <c:pt idx="4">
                  <c:v>1.3</c:v>
                </c:pt>
                <c:pt idx="5">
                  <c:v>1.27</c:v>
                </c:pt>
                <c:pt idx="6">
                  <c:v>1.26</c:v>
                </c:pt>
                <c:pt idx="7">
                  <c:v>1.25</c:v>
                </c:pt>
                <c:pt idx="8">
                  <c:v>1.25</c:v>
                </c:pt>
                <c:pt idx="9">
                  <c:v>1.24</c:v>
                </c:pt>
                <c:pt idx="10">
                  <c:v>1.24</c:v>
                </c:pt>
                <c:pt idx="11">
                  <c:v>1.25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ED-AF43-AA08-C7A38B6545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78381328"/>
        <c:axId val="1789725088"/>
      </c:lineChart>
      <c:catAx>
        <c:axId val="117838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9725088"/>
        <c:crosses val="autoZero"/>
        <c:auto val="1"/>
        <c:lblAlgn val="ctr"/>
        <c:lblOffset val="100"/>
        <c:noMultiLvlLbl val="0"/>
      </c:catAx>
      <c:valAx>
        <c:axId val="178972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8381328"/>
        <c:crosses val="autoZero"/>
        <c:crossBetween val="between"/>
      </c:valAx>
      <c:spPr>
        <a:noFill/>
        <a:ln>
          <a:solidFill>
            <a:schemeClr val="accent1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Monthly Trend of TRODELVY MX Claims with Outliers (IQR Method)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mx_Claims</c:v>
                </c:pt>
              </c:strCache>
            </c:strRef>
          </c:tx>
          <c:spPr>
            <a:ln w="25400">
              <a:solidFill>
                <a:srgbClr val="1F77B4"/>
              </a:solidFill>
            </a:ln>
          </c:spPr>
          <c:marker>
            <c:symbol val="none"/>
          </c:marke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83C2-3940-9B6A-29EEB479D17E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1-83C2-3940-9B6A-29EEB479D17E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2-83C2-3940-9B6A-29EEB479D17E}"/>
              </c:ext>
            </c:extLst>
          </c:dPt>
          <c:dPt>
            <c:idx val="3"/>
            <c:marker>
              <c:symbol val="star"/>
              <c:size val="8"/>
              <c:spPr>
                <a:noFill/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83C2-3940-9B6A-29EEB479D17E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4-83C2-3940-9B6A-29EEB479D17E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5-83C2-3940-9B6A-29EEB479D17E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6-83C2-3940-9B6A-29EEB479D17E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07-83C2-3940-9B6A-29EEB479D17E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8-83C2-3940-9B6A-29EEB479D17E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9-83C2-3940-9B6A-29EEB479D17E}"/>
              </c:ext>
            </c:extLst>
          </c:dPt>
          <c:dPt>
            <c:idx val="10"/>
            <c:bubble3D val="0"/>
            <c:extLst>
              <c:ext xmlns:c16="http://schemas.microsoft.com/office/drawing/2014/chart" uri="{C3380CC4-5D6E-409C-BE32-E72D297353CC}">
                <c16:uniqueId val="{0000000A-83C2-3940-9B6A-29EEB479D17E}"/>
              </c:ext>
            </c:extLst>
          </c:dPt>
          <c:dPt>
            <c:idx val="11"/>
            <c:bubble3D val="0"/>
            <c:extLst>
              <c:ext xmlns:c16="http://schemas.microsoft.com/office/drawing/2014/chart" uri="{C3380CC4-5D6E-409C-BE32-E72D297353CC}">
                <c16:uniqueId val="{0000000B-83C2-3940-9B6A-29EEB479D17E}"/>
              </c:ext>
            </c:extLst>
          </c:dPt>
          <c:dPt>
            <c:idx val="12"/>
            <c:bubble3D val="0"/>
            <c:extLst>
              <c:ext xmlns:c16="http://schemas.microsoft.com/office/drawing/2014/chart" uri="{C3380CC4-5D6E-409C-BE32-E72D297353CC}">
                <c16:uniqueId val="{0000000C-83C2-3940-9B6A-29EEB479D17E}"/>
              </c:ext>
            </c:extLst>
          </c:dPt>
          <c:dPt>
            <c:idx val="13"/>
            <c:bubble3D val="0"/>
            <c:extLst>
              <c:ext xmlns:c16="http://schemas.microsoft.com/office/drawing/2014/chart" uri="{C3380CC4-5D6E-409C-BE32-E72D297353CC}">
                <c16:uniqueId val="{0000000D-83C2-3940-9B6A-29EEB479D17E}"/>
              </c:ext>
            </c:extLst>
          </c:dPt>
          <c:dPt>
            <c:idx val="14"/>
            <c:bubble3D val="0"/>
            <c:extLst>
              <c:ext xmlns:c16="http://schemas.microsoft.com/office/drawing/2014/chart" uri="{C3380CC4-5D6E-409C-BE32-E72D297353CC}">
                <c16:uniqueId val="{0000000E-83C2-3940-9B6A-29EEB479D17E}"/>
              </c:ext>
            </c:extLst>
          </c:dPt>
          <c:dPt>
            <c:idx val="15"/>
            <c:bubble3D val="0"/>
            <c:extLst>
              <c:ext xmlns:c16="http://schemas.microsoft.com/office/drawing/2014/chart" uri="{C3380CC4-5D6E-409C-BE32-E72D297353CC}">
                <c16:uniqueId val="{0000000F-83C2-3940-9B6A-29EEB479D17E}"/>
              </c:ext>
            </c:extLst>
          </c:dPt>
          <c:dPt>
            <c:idx val="16"/>
            <c:bubble3D val="0"/>
            <c:extLst>
              <c:ext xmlns:c16="http://schemas.microsoft.com/office/drawing/2014/chart" uri="{C3380CC4-5D6E-409C-BE32-E72D297353CC}">
                <c16:uniqueId val="{00000010-83C2-3940-9B6A-29EEB479D17E}"/>
              </c:ext>
            </c:extLst>
          </c:dPt>
          <c:dPt>
            <c:idx val="17"/>
            <c:bubble3D val="0"/>
            <c:extLst>
              <c:ext xmlns:c16="http://schemas.microsoft.com/office/drawing/2014/chart" uri="{C3380CC4-5D6E-409C-BE32-E72D297353CC}">
                <c16:uniqueId val="{00000011-83C2-3940-9B6A-29EEB479D17E}"/>
              </c:ext>
            </c:extLst>
          </c:dPt>
          <c:dPt>
            <c:idx val="18"/>
            <c:bubble3D val="0"/>
            <c:extLst>
              <c:ext xmlns:c16="http://schemas.microsoft.com/office/drawing/2014/chart" uri="{C3380CC4-5D6E-409C-BE32-E72D297353CC}">
                <c16:uniqueId val="{00000012-83C2-3940-9B6A-29EEB479D17E}"/>
              </c:ext>
            </c:extLst>
          </c:dPt>
          <c:dPt>
            <c:idx val="19"/>
            <c:bubble3D val="0"/>
            <c:extLst>
              <c:ext xmlns:c16="http://schemas.microsoft.com/office/drawing/2014/chart" uri="{C3380CC4-5D6E-409C-BE32-E72D297353CC}">
                <c16:uniqueId val="{00000013-83C2-3940-9B6A-29EEB479D17E}"/>
              </c:ext>
            </c:extLst>
          </c:dPt>
          <c:dPt>
            <c:idx val="20"/>
            <c:bubble3D val="0"/>
            <c:extLst>
              <c:ext xmlns:c16="http://schemas.microsoft.com/office/drawing/2014/chart" uri="{C3380CC4-5D6E-409C-BE32-E72D297353CC}">
                <c16:uniqueId val="{00000014-83C2-3940-9B6A-29EEB479D17E}"/>
              </c:ext>
            </c:extLst>
          </c:dPt>
          <c:dPt>
            <c:idx val="21"/>
            <c:bubble3D val="0"/>
            <c:extLst>
              <c:ext xmlns:c16="http://schemas.microsoft.com/office/drawing/2014/chart" uri="{C3380CC4-5D6E-409C-BE32-E72D297353CC}">
                <c16:uniqueId val="{00000015-83C2-3940-9B6A-29EEB479D17E}"/>
              </c:ext>
            </c:extLst>
          </c:dPt>
          <c:dPt>
            <c:idx val="22"/>
            <c:bubble3D val="0"/>
            <c:extLst>
              <c:ext xmlns:c16="http://schemas.microsoft.com/office/drawing/2014/chart" uri="{C3380CC4-5D6E-409C-BE32-E72D297353CC}">
                <c16:uniqueId val="{00000016-83C2-3940-9B6A-29EEB479D17E}"/>
              </c:ext>
            </c:extLst>
          </c:dPt>
          <c:dPt>
            <c:idx val="23"/>
            <c:bubble3D val="0"/>
            <c:extLst>
              <c:ext xmlns:c16="http://schemas.microsoft.com/office/drawing/2014/chart" uri="{C3380CC4-5D6E-409C-BE32-E72D297353CC}">
                <c16:uniqueId val="{00000017-83C2-3940-9B6A-29EEB479D17E}"/>
              </c:ext>
            </c:extLst>
          </c:dPt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7372</c:v>
                </c:pt>
                <c:pt idx="1">
                  <c:v>7494</c:v>
                </c:pt>
                <c:pt idx="2">
                  <c:v>6959</c:v>
                </c:pt>
                <c:pt idx="3">
                  <c:v>7724</c:v>
                </c:pt>
                <c:pt idx="4">
                  <c:v>6304</c:v>
                </c:pt>
                <c:pt idx="5">
                  <c:v>5733</c:v>
                </c:pt>
                <c:pt idx="6">
                  <c:v>6412</c:v>
                </c:pt>
                <c:pt idx="7">
                  <c:v>6780</c:v>
                </c:pt>
                <c:pt idx="8">
                  <c:v>5825</c:v>
                </c:pt>
                <c:pt idx="9">
                  <c:v>6470</c:v>
                </c:pt>
                <c:pt idx="10">
                  <c:v>6508</c:v>
                </c:pt>
                <c:pt idx="11">
                  <c:v>5979</c:v>
                </c:pt>
                <c:pt idx="12">
                  <c:v>6812</c:v>
                </c:pt>
                <c:pt idx="13">
                  <c:v>5810</c:v>
                </c:pt>
                <c:pt idx="14">
                  <c:v>6240</c:v>
                </c:pt>
                <c:pt idx="15">
                  <c:v>6484</c:v>
                </c:pt>
                <c:pt idx="16">
                  <c:v>5680</c:v>
                </c:pt>
                <c:pt idx="17">
                  <c:v>5989</c:v>
                </c:pt>
                <c:pt idx="18">
                  <c:v>5909</c:v>
                </c:pt>
                <c:pt idx="19">
                  <c:v>5934</c:v>
                </c:pt>
                <c:pt idx="20">
                  <c:v>5562</c:v>
                </c:pt>
                <c:pt idx="21">
                  <c:v>6347</c:v>
                </c:pt>
                <c:pt idx="22">
                  <c:v>5926</c:v>
                </c:pt>
                <c:pt idx="23">
                  <c:v>5910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8-83C2-3940-9B6A-29EEB479D1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spPr>
            <a:ln w="19050">
              <a:solidFill>
                <a:srgbClr val="2CA02C"/>
              </a:solidFill>
              <a:prstDash val="dash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6272</c:v>
                </c:pt>
                <c:pt idx="1">
                  <c:v>6272</c:v>
                </c:pt>
                <c:pt idx="2">
                  <c:v>6272</c:v>
                </c:pt>
                <c:pt idx="3">
                  <c:v>6272</c:v>
                </c:pt>
                <c:pt idx="4">
                  <c:v>6272</c:v>
                </c:pt>
                <c:pt idx="5">
                  <c:v>6272</c:v>
                </c:pt>
                <c:pt idx="6">
                  <c:v>6272</c:v>
                </c:pt>
                <c:pt idx="7">
                  <c:v>6272</c:v>
                </c:pt>
                <c:pt idx="8">
                  <c:v>6272</c:v>
                </c:pt>
                <c:pt idx="9">
                  <c:v>6272</c:v>
                </c:pt>
                <c:pt idx="10">
                  <c:v>6272</c:v>
                </c:pt>
                <c:pt idx="11">
                  <c:v>6272</c:v>
                </c:pt>
                <c:pt idx="12">
                  <c:v>6272</c:v>
                </c:pt>
                <c:pt idx="13">
                  <c:v>6272</c:v>
                </c:pt>
                <c:pt idx="14">
                  <c:v>6272</c:v>
                </c:pt>
                <c:pt idx="15">
                  <c:v>6272</c:v>
                </c:pt>
                <c:pt idx="16">
                  <c:v>6272</c:v>
                </c:pt>
                <c:pt idx="17">
                  <c:v>6272</c:v>
                </c:pt>
                <c:pt idx="18">
                  <c:v>6272</c:v>
                </c:pt>
                <c:pt idx="19">
                  <c:v>6272</c:v>
                </c:pt>
                <c:pt idx="20">
                  <c:v>6272</c:v>
                </c:pt>
                <c:pt idx="21">
                  <c:v>6272</c:v>
                </c:pt>
                <c:pt idx="22">
                  <c:v>6272</c:v>
                </c:pt>
                <c:pt idx="23">
                  <c:v>6272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9-83C2-3940-9B6A-29EEB479D1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Upper Bound</c:v>
                </c:pt>
              </c:strCache>
            </c:strRef>
          </c:tx>
          <c:spPr>
            <a:ln w="19050">
              <a:solidFill>
                <a:srgbClr val="FF7F0E"/>
              </a:solidFill>
              <a:prstDash val="dash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7575.375</c:v>
                </c:pt>
                <c:pt idx="1">
                  <c:v>7575.375</c:v>
                </c:pt>
                <c:pt idx="2">
                  <c:v>7575.375</c:v>
                </c:pt>
                <c:pt idx="3">
                  <c:v>7575.375</c:v>
                </c:pt>
                <c:pt idx="4">
                  <c:v>7575.375</c:v>
                </c:pt>
                <c:pt idx="5">
                  <c:v>7575.375</c:v>
                </c:pt>
                <c:pt idx="6">
                  <c:v>7575.375</c:v>
                </c:pt>
                <c:pt idx="7">
                  <c:v>7575.375</c:v>
                </c:pt>
                <c:pt idx="8">
                  <c:v>7575.375</c:v>
                </c:pt>
                <c:pt idx="9">
                  <c:v>7575.375</c:v>
                </c:pt>
                <c:pt idx="10">
                  <c:v>7575.375</c:v>
                </c:pt>
                <c:pt idx="11">
                  <c:v>7575.375</c:v>
                </c:pt>
                <c:pt idx="12">
                  <c:v>7575.375</c:v>
                </c:pt>
                <c:pt idx="13">
                  <c:v>7575.375</c:v>
                </c:pt>
                <c:pt idx="14">
                  <c:v>7575.375</c:v>
                </c:pt>
                <c:pt idx="15">
                  <c:v>7575.375</c:v>
                </c:pt>
                <c:pt idx="16">
                  <c:v>7575.375</c:v>
                </c:pt>
                <c:pt idx="17">
                  <c:v>7575.375</c:v>
                </c:pt>
                <c:pt idx="18">
                  <c:v>7575.375</c:v>
                </c:pt>
                <c:pt idx="19">
                  <c:v>7575.375</c:v>
                </c:pt>
                <c:pt idx="20">
                  <c:v>7575.375</c:v>
                </c:pt>
                <c:pt idx="21">
                  <c:v>7575.375</c:v>
                </c:pt>
                <c:pt idx="22">
                  <c:v>7575.375</c:v>
                </c:pt>
                <c:pt idx="23">
                  <c:v>7575.375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A-83C2-3940-9B6A-29EEB479D17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Lower Bound</c:v>
                </c:pt>
              </c:strCache>
            </c:strRef>
          </c:tx>
          <c:spPr>
            <a:ln w="19050">
              <a:solidFill>
                <a:srgbClr val="FF7F0E"/>
              </a:solidFill>
              <a:prstDash val="dash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4910.375</c:v>
                </c:pt>
                <c:pt idx="1">
                  <c:v>4910.375</c:v>
                </c:pt>
                <c:pt idx="2">
                  <c:v>4910.375</c:v>
                </c:pt>
                <c:pt idx="3">
                  <c:v>4910.375</c:v>
                </c:pt>
                <c:pt idx="4">
                  <c:v>4910.375</c:v>
                </c:pt>
                <c:pt idx="5">
                  <c:v>4910.375</c:v>
                </c:pt>
                <c:pt idx="6">
                  <c:v>4910.375</c:v>
                </c:pt>
                <c:pt idx="7">
                  <c:v>4910.375</c:v>
                </c:pt>
                <c:pt idx="8">
                  <c:v>4910.375</c:v>
                </c:pt>
                <c:pt idx="9">
                  <c:v>4910.375</c:v>
                </c:pt>
                <c:pt idx="10">
                  <c:v>4910.375</c:v>
                </c:pt>
                <c:pt idx="11">
                  <c:v>4910.375</c:v>
                </c:pt>
                <c:pt idx="12">
                  <c:v>4910.375</c:v>
                </c:pt>
                <c:pt idx="13">
                  <c:v>4910.375</c:v>
                </c:pt>
                <c:pt idx="14">
                  <c:v>4910.375</c:v>
                </c:pt>
                <c:pt idx="15">
                  <c:v>4910.375</c:v>
                </c:pt>
                <c:pt idx="16">
                  <c:v>4910.375</c:v>
                </c:pt>
                <c:pt idx="17">
                  <c:v>4910.375</c:v>
                </c:pt>
                <c:pt idx="18">
                  <c:v>4910.375</c:v>
                </c:pt>
                <c:pt idx="19">
                  <c:v>4910.375</c:v>
                </c:pt>
                <c:pt idx="20">
                  <c:v>4910.375</c:v>
                </c:pt>
                <c:pt idx="21">
                  <c:v>4910.375</c:v>
                </c:pt>
                <c:pt idx="22">
                  <c:v>4910.375</c:v>
                </c:pt>
                <c:pt idx="23">
                  <c:v>4910.375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B-83C2-3940-9B6A-29EEB479D1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40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A5618-DC14-87E1-42E3-DAEF937A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0DA736-C5ED-BDA0-1FEE-54EF74D81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0CFB1-9E1A-1BD8-7CD6-8FEA32538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BE43C-4A05-5E86-6A1D-B0D9F749B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2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88000-E7DD-4993-37D1-576CF6A16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4C041-52A0-FFCF-2CFF-A2FF3D33D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BDBCE-C33B-BEF5-CAA0-6E40E5A8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0EC25-8012-F068-2F2D-4F04A57FFC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49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11113-38DE-0118-C564-C860BE4CB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F5F20-E1EB-9C6C-210D-894F123A3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24187-97BD-9AED-60DD-8A62D7FDE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7C74-22BB-DAC6-AB5B-052BB7E52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19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4EA79-8B97-23E5-FFCF-B81E58E5E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89299-32CB-E47F-2B10-A6BF06EE0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541F5-6D27-A21B-1769-5EA528A71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5E078-D773-D47C-8769-5B2AA6DB8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46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>
            <a:spLocks noGrp="1"/>
          </p:cNvSpPr>
          <p:nvPr>
            <p:ph type="title"/>
          </p:nvPr>
        </p:nvSpPr>
        <p:spPr>
          <a:xfrm>
            <a:off x="548640" y="429768"/>
            <a:ext cx="1109167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body" idx="1"/>
          </p:nvPr>
        </p:nvSpPr>
        <p:spPr>
          <a:xfrm>
            <a:off x="548640" y="1856232"/>
            <a:ext cx="11091672" cy="445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–"/>
              <a:defRPr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⎼"/>
              <a:defRPr>
                <a:solidFill>
                  <a:schemeClr val="accent1"/>
                </a:solidFill>
              </a:defRPr>
            </a:lvl4pPr>
            <a:lvl5pPr marL="2286000" lvl="4" indent="-304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⎼"/>
              <a:defRPr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rgbClr val="C50F3C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4"/>
          <p:cNvSpPr txBox="1">
            <a:spLocks noGrp="1"/>
          </p:cNvSpPr>
          <p:nvPr>
            <p:ph type="ctrTitle"/>
          </p:nvPr>
        </p:nvSpPr>
        <p:spPr>
          <a:xfrm>
            <a:off x="609600" y="1658249"/>
            <a:ext cx="10058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Trebuchet MS"/>
              <a:buNone/>
              <a:defRPr sz="50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4"/>
          <p:cNvSpPr txBox="1">
            <a:spLocks noGrp="1"/>
          </p:cNvSpPr>
          <p:nvPr>
            <p:ph type="subTitle" idx="1"/>
          </p:nvPr>
        </p:nvSpPr>
        <p:spPr>
          <a:xfrm>
            <a:off x="609600" y="4077886"/>
            <a:ext cx="100584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500"/>
              <a:buNone/>
              <a:defRPr sz="1500" b="0" i="0">
                <a:solidFill>
                  <a:srgbClr val="F3F3F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61" name="Google Shape;161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279" y="637899"/>
            <a:ext cx="1793826" cy="496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Red BG">
  <p:cSld name="Key Point - Red BG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5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5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6" name="Google Shape;166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5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Blue BG">
  <p:cSld name="Key Point - Blue BG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6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6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1" name="Google Shape;171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56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Red Text">
  <p:cSld name="Key Point - Red Text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7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7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0F3C"/>
              </a:buClr>
              <a:buSzPts val="4500"/>
              <a:buFont typeface="Trebuchet MS"/>
              <a:buNone/>
              <a:defRPr sz="4500" b="1" i="0">
                <a:solidFill>
                  <a:srgbClr val="C50F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6" name="Google Shape;176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7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Blue Text">
  <p:cSld name="Key Point - Blue 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8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8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Trebuchet MS"/>
              <a:buNone/>
              <a:defRPr sz="45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1" name="Google Shape;181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58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Picture">
  <p:cSld name="Key Point - Pictur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59"/>
          <p:cNvSpPr txBox="1">
            <a:spLocks noGrp="1"/>
          </p:cNvSpPr>
          <p:nvPr>
            <p:ph type="title"/>
          </p:nvPr>
        </p:nvSpPr>
        <p:spPr>
          <a:xfrm>
            <a:off x="838200" y="3932482"/>
            <a:ext cx="10515600" cy="1895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Trebuchet MS"/>
              <a:buNone/>
              <a:defRPr sz="5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- Picture">
  <p:cSld name="Divider - Pictur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0"/>
          <p:cNvSpPr>
            <a:spLocks noGrp="1"/>
          </p:cNvSpPr>
          <p:nvPr>
            <p:ph type="pic" idx="2"/>
          </p:nvPr>
        </p:nvSpPr>
        <p:spPr>
          <a:xfrm>
            <a:off x="1" y="0"/>
            <a:ext cx="12191998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60"/>
          <p:cNvSpPr txBox="1">
            <a:spLocks noGrp="1"/>
          </p:cNvSpPr>
          <p:nvPr>
            <p:ph type="body" idx="1"/>
          </p:nvPr>
        </p:nvSpPr>
        <p:spPr>
          <a:xfrm>
            <a:off x="0" y="957364"/>
            <a:ext cx="5939883" cy="4943272"/>
          </a:xfrm>
          <a:prstGeom prst="rect">
            <a:avLst/>
          </a:prstGeom>
          <a:solidFill>
            <a:srgbClr val="C50F3C"/>
          </a:solidFill>
          <a:ln>
            <a:noFill/>
          </a:ln>
        </p:spPr>
        <p:txBody>
          <a:bodyPr spcFirstLastPara="1" wrap="square" lIns="914400" tIns="914400" rIns="914400" bIns="9144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/List">
  <p:cSld name="Agenda/Lis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1"/>
          <p:cNvSpPr/>
          <p:nvPr/>
        </p:nvSpPr>
        <p:spPr>
          <a:xfrm>
            <a:off x="4249783" y="0"/>
            <a:ext cx="794221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1"/>
          <p:cNvSpPr/>
          <p:nvPr/>
        </p:nvSpPr>
        <p:spPr>
          <a:xfrm>
            <a:off x="0" y="0"/>
            <a:ext cx="4249783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1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339729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4" name="Google Shape;194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1"/>
          <p:cNvSpPr txBox="1">
            <a:spLocks noGrp="1"/>
          </p:cNvSpPr>
          <p:nvPr>
            <p:ph type="body" idx="2"/>
          </p:nvPr>
        </p:nvSpPr>
        <p:spPr>
          <a:xfrm>
            <a:off x="4606972" y="781844"/>
            <a:ext cx="7157992" cy="529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55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AutoNum type="arabicPeriod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Black"/>
              <a:buAutoNum type="alphaLcPeriod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Black"/>
              <a:buAutoNum type="arabicPeriod"/>
              <a:defRPr/>
            </a:lvl3pPr>
            <a:lvl4pPr marL="1828800" lvl="3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AutoNum type="arabicPeriod"/>
              <a:defRPr/>
            </a:lvl4pPr>
            <a:lvl5pPr marL="2286000" lvl="4" indent="-304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AutoNum type="arabicPeriod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61"/>
          <p:cNvSpPr txBox="1"/>
          <p:nvPr/>
        </p:nvSpPr>
        <p:spPr>
          <a:xfrm>
            <a:off x="4606972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- Side By Side">
  <p:cSld name="Content - Side By Side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2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2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34061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62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1" name="Google Shape;201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62"/>
          <p:cNvCxnSpPr/>
          <p:nvPr/>
        </p:nvCxnSpPr>
        <p:spPr>
          <a:xfrm>
            <a:off x="4260501" y="1628503"/>
            <a:ext cx="0" cy="347472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3" name="Google Shape;203;p62"/>
          <p:cNvSpPr txBox="1">
            <a:spLocks noGrp="1"/>
          </p:cNvSpPr>
          <p:nvPr>
            <p:ph type="body" idx="2"/>
          </p:nvPr>
        </p:nvSpPr>
        <p:spPr>
          <a:xfrm>
            <a:off x="4606972" y="800327"/>
            <a:ext cx="7157992" cy="5257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62"/>
          <p:cNvSpPr txBox="1"/>
          <p:nvPr/>
        </p:nvSpPr>
        <p:spPr>
          <a:xfrm>
            <a:off x="4606972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ey Comparison">
  <p:cSld name="Key Comparison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7" name="Google Shape;207;p63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50F3C"/>
              </a:buClr>
              <a:buSzPts val="3200"/>
              <a:buNone/>
              <a:defRPr sz="3200" b="1" i="0">
                <a:solidFill>
                  <a:srgbClr val="C50F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63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9" name="Google Shape;209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3"/>
          <p:cNvSpPr txBox="1">
            <a:spLocks noGrp="1"/>
          </p:cNvSpPr>
          <p:nvPr>
            <p:ph type="body" idx="2"/>
          </p:nvPr>
        </p:nvSpPr>
        <p:spPr>
          <a:xfrm>
            <a:off x="6614809" y="1189899"/>
            <a:ext cx="51508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63"/>
          <p:cNvSpPr txBox="1"/>
          <p:nvPr/>
        </p:nvSpPr>
        <p:spPr>
          <a:xfrm>
            <a:off x="6614809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ey Comparison - Blue">
  <p:cSld name="Key Comparison - Blue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4" name="Google Shape;214;p64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64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6" name="Google Shape;216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4"/>
          <p:cNvSpPr txBox="1">
            <a:spLocks noGrp="1"/>
          </p:cNvSpPr>
          <p:nvPr>
            <p:ph type="body" idx="2"/>
          </p:nvPr>
        </p:nvSpPr>
        <p:spPr>
          <a:xfrm>
            <a:off x="6614809" y="1189899"/>
            <a:ext cx="51508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64"/>
          <p:cNvSpPr txBox="1"/>
          <p:nvPr/>
        </p:nvSpPr>
        <p:spPr>
          <a:xfrm>
            <a:off x="6614809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Split">
  <p:cSld name="Picture Split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5"/>
          <p:cNvSpPr>
            <a:spLocks noGrp="1"/>
          </p:cNvSpPr>
          <p:nvPr>
            <p:ph type="pic" idx="2"/>
          </p:nvPr>
        </p:nvSpPr>
        <p:spPr>
          <a:xfrm>
            <a:off x="6095999" y="0"/>
            <a:ext cx="609599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6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2" name="Google Shape;222;p65"/>
          <p:cNvSpPr txBox="1">
            <a:spLocks noGrp="1"/>
          </p:cNvSpPr>
          <p:nvPr>
            <p:ph type="sldNum" idx="12"/>
          </p:nvPr>
        </p:nvSpPr>
        <p:spPr>
          <a:xfrm>
            <a:off x="211014" y="6400799"/>
            <a:ext cx="745915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65"/>
          <p:cNvSpPr txBox="1"/>
          <p:nvPr/>
        </p:nvSpPr>
        <p:spPr>
          <a:xfrm>
            <a:off x="1707493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94406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5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2 Columns">
  <p:cSld name="Content - 2 Columns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7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7"/>
          <p:cNvSpPr txBox="1">
            <a:spLocks noGrp="1"/>
          </p:cNvSpPr>
          <p:nvPr>
            <p:ph type="title"/>
          </p:nvPr>
        </p:nvSpPr>
        <p:spPr>
          <a:xfrm>
            <a:off x="577516" y="365125"/>
            <a:ext cx="10972800" cy="9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6" name="Google Shape;236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67"/>
          <p:cNvSpPr txBox="1">
            <a:spLocks noGrp="1"/>
          </p:cNvSpPr>
          <p:nvPr>
            <p:ph type="body" idx="1"/>
          </p:nvPr>
        </p:nvSpPr>
        <p:spPr>
          <a:xfrm>
            <a:off x="577516" y="1942677"/>
            <a:ext cx="5399951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67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67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7"/>
          <p:cNvSpPr txBox="1">
            <a:spLocks noGrp="1"/>
          </p:cNvSpPr>
          <p:nvPr>
            <p:ph type="body" idx="2"/>
          </p:nvPr>
        </p:nvSpPr>
        <p:spPr>
          <a:xfrm>
            <a:off x="6150365" y="1942677"/>
            <a:ext cx="5399951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3 Columns">
  <p:cSld name="Content - 3 Columns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8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8"/>
          <p:cNvSpPr txBox="1">
            <a:spLocks noGrp="1"/>
          </p:cNvSpPr>
          <p:nvPr>
            <p:ph type="title"/>
          </p:nvPr>
        </p:nvSpPr>
        <p:spPr>
          <a:xfrm>
            <a:off x="577516" y="365125"/>
            <a:ext cx="10972800" cy="9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4" name="Google Shape;244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68"/>
          <p:cNvSpPr txBox="1">
            <a:spLocks noGrp="1"/>
          </p:cNvSpPr>
          <p:nvPr>
            <p:ph type="body" idx="1"/>
          </p:nvPr>
        </p:nvSpPr>
        <p:spPr>
          <a:xfrm>
            <a:off x="577517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68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68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8"/>
          <p:cNvSpPr txBox="1">
            <a:spLocks noGrp="1"/>
          </p:cNvSpPr>
          <p:nvPr>
            <p:ph type="body" idx="2"/>
          </p:nvPr>
        </p:nvSpPr>
        <p:spPr>
          <a:xfrm>
            <a:off x="4305587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68"/>
          <p:cNvSpPr txBox="1">
            <a:spLocks noGrp="1"/>
          </p:cNvSpPr>
          <p:nvPr>
            <p:ph type="body" idx="3"/>
          </p:nvPr>
        </p:nvSpPr>
        <p:spPr>
          <a:xfrm>
            <a:off x="8033658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Background">
  <p:cSld name="Red Background">
    <p:bg>
      <p:bgPr>
        <a:solidFill>
          <a:srgbClr val="C50F3C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Background">
  <p:cSld name="Blue Background">
    <p:bg>
      <p:bgPr>
        <a:solidFill>
          <a:schemeClr val="accen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ck Background">
  <p:cSld name="Black Background">
    <p:bg>
      <p:bgPr>
        <a:solidFill>
          <a:schemeClr val="accent6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9ea9413e2_1_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g279ea9413e2_1_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g279ea9413e2_1_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559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>
            <a:spLocks noGrp="1"/>
          </p:cNvSpPr>
          <p:nvPr>
            <p:ph type="title"/>
          </p:nvPr>
        </p:nvSpPr>
        <p:spPr>
          <a:xfrm>
            <a:off x="609600" y="365126"/>
            <a:ext cx="10924674" cy="96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30"/>
          <p:cNvSpPr txBox="1">
            <a:spLocks noGrp="1"/>
          </p:cNvSpPr>
          <p:nvPr>
            <p:ph type="body" idx="1"/>
          </p:nvPr>
        </p:nvSpPr>
        <p:spPr>
          <a:xfrm>
            <a:off x="609600" y="1942677"/>
            <a:ext cx="10924674" cy="423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429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⎼"/>
              <a:defRPr sz="1800" b="0" i="1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302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⎼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175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⎼"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048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⎼"/>
              <a:defRPr sz="1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30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30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1" r:id="rId14"/>
    <p:sldLayoutId id="2147483692" r:id="rId15"/>
    <p:sldLayoutId id="2147483694" r:id="rId16"/>
    <p:sldLayoutId id="2147483695" r:id="rId17"/>
    <p:sldLayoutId id="2147483696" r:id="rId18"/>
    <p:sldLayoutId id="2147483697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5A1F1-BA2C-65A7-0E87-97B7D56EB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5AFC3-2BF6-1A3D-3BB6-FBD9F5C3A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542" y="2513154"/>
            <a:ext cx="6602200" cy="1432572"/>
          </a:xfr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dirty="0"/>
              <a:t>Monthly Data Health Check Report  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E3ADE02-A9CE-1A9B-4C5D-98A220F9284A}"/>
              </a:ext>
            </a:extLst>
          </p:cNvPr>
          <p:cNvSpPr txBox="1">
            <a:spLocks/>
          </p:cNvSpPr>
          <p:nvPr/>
        </p:nvSpPr>
        <p:spPr>
          <a:xfrm>
            <a:off x="4430486" y="3728012"/>
            <a:ext cx="2754086" cy="40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1800" dirty="0"/>
              <a:t>OCA Publication Month</a:t>
            </a:r>
            <a:endParaRPr lang="en-US" sz="1800" dirty="0"/>
          </a:p>
        </p:txBody>
      </p:sp>
      <p:sp>
        <p:nvSpPr>
          <p:cNvPr id="6" name="latest_date">
            <a:extLst>
              <a:ext uri="{FF2B5EF4-FFF2-40B4-BE49-F238E27FC236}">
                <a16:creationId xmlns:a16="http://schemas.microsoft.com/office/drawing/2014/main" id="{96C165FD-F3FC-7732-F11C-1FECAA1A2131}"/>
              </a:ext>
            </a:extLst>
          </p:cNvPr>
          <p:cNvSpPr txBox="1">
            <a:spLocks/>
          </p:cNvSpPr>
          <p:nvPr/>
        </p:nvSpPr>
        <p:spPr>
          <a:xfrm>
            <a:off x="6982349" y="3765770"/>
            <a:ext cx="1257884" cy="336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1800" dirty="0"/>
              <a:t>Sep 25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88161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DC3A5-8E0E-4954-C397-CF4DE3D4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1EEBEC-7AFC-ABB5-9181-746420D2641B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Contents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466091-99DC-D77C-5AE8-B739C9A1A4C9}"/>
              </a:ext>
            </a:extLst>
          </p:cNvPr>
          <p:cNvSpPr txBox="1"/>
          <p:nvPr/>
        </p:nvSpPr>
        <p:spPr>
          <a:xfrm>
            <a:off x="87971" y="6097238"/>
            <a:ext cx="7555570" cy="3510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9105" lvl="1">
              <a:lnSpc>
                <a:spcPts val="2200"/>
              </a:lnSpc>
            </a:pPr>
            <a:r>
              <a:rPr lang="en-IN" sz="1600" i="1" dirty="0">
                <a:solidFill>
                  <a:schemeClr val="accent6"/>
                </a:solidFill>
                <a:latin typeface="Trebuchet MS"/>
              </a:rPr>
              <a:t>All views include comparison across latest 3 batches of data</a:t>
            </a:r>
            <a:endParaRPr lang="en-US" sz="1600" i="1" dirty="0">
              <a:solidFill>
                <a:schemeClr val="accent6"/>
              </a:solidFill>
              <a:latin typeface="Trebuchet M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0BA977-9F35-98FD-1C0F-F18DB46552E1}"/>
              </a:ext>
            </a:extLst>
          </p:cNvPr>
          <p:cNvSpPr/>
          <p:nvPr/>
        </p:nvSpPr>
        <p:spPr>
          <a:xfrm>
            <a:off x="609600" y="956447"/>
            <a:ext cx="10072642" cy="4519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endParaRPr lang="en-US" sz="1600" dirty="0">
              <a:solidFill>
                <a:schemeClr val="accent6"/>
              </a:solidFill>
              <a:latin typeface="Trebuchet MS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Monthly Trends Of Breast Mx Claims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,Sans-Serif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Monthly Trends Of Breast Rx Claims</a:t>
            </a:r>
            <a:b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</a:b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Class Of Drug Mx Claims Trends (</a:t>
            </a:r>
            <a:r>
              <a:rPr lang="en-IN" sz="1600" dirty="0" err="1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Chemos</a:t>
            </a: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, Targeted Agents, ADCs) 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Class Of Drug Rx Claims Trends (CDK, Hormonals, Oral Chemotherapy Drugs) 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Individual Drug Claims Mx Claims Trends (</a:t>
            </a:r>
            <a:r>
              <a:rPr lang="en-US" sz="1600" dirty="0" err="1">
                <a:solidFill>
                  <a:schemeClr val="accent6"/>
                </a:solidFill>
                <a:latin typeface="Trebuchet MS"/>
                <a:cs typeface="Arial"/>
              </a:rPr>
              <a:t>Trodelvy</a:t>
            </a: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, </a:t>
            </a:r>
            <a:r>
              <a:rPr lang="en-US" sz="1600" dirty="0" err="1">
                <a:solidFill>
                  <a:schemeClr val="accent6"/>
                </a:solidFill>
                <a:latin typeface="Trebuchet MS"/>
                <a:cs typeface="Arial"/>
              </a:rPr>
              <a:t>Enhertu</a:t>
            </a: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, Dato)</a:t>
            </a: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Projection Factor Trends For Oral Drugs, Infusion Drugs And </a:t>
            </a: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Trodelvy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Outlier Analysis For </a:t>
            </a:r>
            <a:r>
              <a:rPr lang="en-IN" sz="1600" dirty="0" err="1">
                <a:solidFill>
                  <a:schemeClr val="accent6"/>
                </a:solidFill>
                <a:latin typeface="Trebuchet MS"/>
                <a:cs typeface="Arial"/>
              </a:rPr>
              <a:t>Trodelvy</a:t>
            </a: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 Mx Claims</a:t>
            </a: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rgbClr val="000000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63251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7C020-66C4-0D71-B13B-CC6E08DF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30E26F-8729-F194-463A-963632016117}"/>
              </a:ext>
            </a:extLst>
          </p:cNvPr>
          <p:cNvSpPr txBox="1"/>
          <p:nvPr/>
        </p:nvSpPr>
        <p:spPr>
          <a:xfrm>
            <a:off x="180000" y="54000"/>
            <a:ext cx="793945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Breast Mx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89BDF9B-8243-47C2-6CA9-8592333DB5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4925051"/>
              </p:ext>
            </p:extLst>
          </p:nvPr>
        </p:nvGraphicFramePr>
        <p:xfrm>
          <a:off x="180000" y="900000"/>
          <a:ext cx="9367284" cy="5311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insight_box_1">
            <a:extLst>
              <a:ext uri="{FF2B5EF4-FFF2-40B4-BE49-F238E27FC236}">
                <a16:creationId xmlns:a16="http://schemas.microsoft.com/office/drawing/2014/main" id="{A1FD76C9-8180-7F71-9D35-B947E8A14627}"/>
              </a:ext>
            </a:extLst>
          </p:cNvPr>
          <p:cNvSpPr/>
          <p:nvPr/>
        </p:nvSpPr>
        <p:spPr>
          <a:xfrm>
            <a:off x="9739423" y="-740"/>
            <a:ext cx="2451836" cy="25100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Char char="•"/>
            </a:pPr>
            <a:r>
              <a:rPr lang="en-US" sz="1200" dirty="0">
                <a:solidFill>
                  <a:schemeClr val="bg1"/>
                </a:solidFill>
                <a:latin typeface="Trebuchet MS"/>
                <a:cs typeface="Arial"/>
              </a:rPr>
              <a:t>Sept monthly Mx claims are within normal monthly claims variance</a:t>
            </a:r>
            <a:br>
              <a:rPr lang="en-US" sz="1200" dirty="0">
                <a:solidFill>
                  <a:schemeClr val="bg1"/>
                </a:solidFill>
                <a:latin typeface="Trebuchet MS"/>
                <a:cs typeface="Arial"/>
              </a:rPr>
            </a:br>
            <a:endParaRPr lang="en-US" sz="1200" dirty="0">
              <a:solidFill>
                <a:schemeClr val="bg1"/>
              </a:solidFill>
              <a:latin typeface="Trebuchet MS"/>
              <a:cs typeface="Arial"/>
            </a:endParaRPr>
          </a:p>
          <a:p>
            <a:pPr marL="285750" indent="-285750">
              <a:buChar char="•"/>
            </a:pPr>
            <a:r>
              <a:rPr lang="en-US" sz="1200" dirty="0">
                <a:solidFill>
                  <a:schemeClr val="bg1"/>
                </a:solidFill>
                <a:latin typeface="Trebuchet MS"/>
                <a:cs typeface="Arial"/>
              </a:rPr>
              <a:t>9% restatement in Mx Sept publication compared to previous batch of data, which is within the usual restatement range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D2CDC3-441B-010B-4669-90D02D373181}"/>
              </a:ext>
            </a:extLst>
          </p:cNvPr>
          <p:cNvSpPr txBox="1"/>
          <p:nvPr/>
        </p:nvSpPr>
        <p:spPr>
          <a:xfrm>
            <a:off x="0" y="6610901"/>
            <a:ext cx="4376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_MX_ONC_HIST</a:t>
            </a:r>
          </a:p>
        </p:txBody>
      </p:sp>
    </p:spTree>
    <p:extLst>
      <p:ext uri="{BB962C8B-B14F-4D97-AF65-F5344CB8AC3E}">
        <p14:creationId xmlns:p14="http://schemas.microsoft.com/office/powerpoint/2010/main" val="2368262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AA82D-6C62-0D1E-4D2E-E4B5ECD36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8FFDD8-4DA7-2062-DEE6-93F5D7DB64A5}"/>
              </a:ext>
            </a:extLst>
          </p:cNvPr>
          <p:cNvSpPr txBox="1"/>
          <p:nvPr/>
        </p:nvSpPr>
        <p:spPr>
          <a:xfrm>
            <a:off x="180000" y="54000"/>
            <a:ext cx="791137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Breast Rx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E9B7BFF-9113-C328-588D-FDC468623B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3603514"/>
              </p:ext>
            </p:extLst>
          </p:nvPr>
        </p:nvGraphicFramePr>
        <p:xfrm>
          <a:off x="180000" y="900000"/>
          <a:ext cx="9335386" cy="5453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insight_box_1">
            <a:extLst>
              <a:ext uri="{FF2B5EF4-FFF2-40B4-BE49-F238E27FC236}">
                <a16:creationId xmlns:a16="http://schemas.microsoft.com/office/drawing/2014/main" id="{50C1A7DC-657F-958E-604A-861D844210DB}"/>
              </a:ext>
            </a:extLst>
          </p:cNvPr>
          <p:cNvSpPr/>
          <p:nvPr/>
        </p:nvSpPr>
        <p:spPr>
          <a:xfrm>
            <a:off x="9739423" y="-741"/>
            <a:ext cx="2451835" cy="24887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Char char="•"/>
            </a:pPr>
            <a:r>
              <a:rPr lang="en-US" sz="1200" dirty="0">
                <a:solidFill>
                  <a:schemeClr val="bg1"/>
                </a:solidFill>
                <a:latin typeface="Trebuchet MS"/>
                <a:cs typeface="Arial"/>
              </a:rPr>
              <a:t>Sept Rx monthly claims are within normal monthly claims variance</a:t>
            </a:r>
            <a:br>
              <a:rPr lang="en-US" sz="1200" dirty="0">
                <a:solidFill>
                  <a:schemeClr val="bg1"/>
                </a:solidFill>
                <a:latin typeface="Trebuchet MS"/>
                <a:cs typeface="Arial"/>
              </a:rPr>
            </a:br>
            <a:endParaRPr lang="en-US" sz="1200" dirty="0">
              <a:solidFill>
                <a:schemeClr val="bg1"/>
              </a:solidFill>
              <a:latin typeface="Trebuchet MS"/>
              <a:cs typeface="Arial"/>
            </a:endParaRPr>
          </a:p>
          <a:p>
            <a:pPr marL="285750" indent="-285750">
              <a:buChar char="•"/>
            </a:pPr>
            <a:r>
              <a:rPr lang="en-US" sz="1200" dirty="0">
                <a:solidFill>
                  <a:schemeClr val="bg1"/>
                </a:solidFill>
                <a:latin typeface="Trebuchet MS"/>
                <a:cs typeface="Arial"/>
              </a:rPr>
              <a:t>&lt;0.5% restatement in Rx Sept publication compared to previous batch of data, which is within the usual restatement range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24DD9-7785-D64B-FA50-B2E85647FDF3}"/>
              </a:ext>
            </a:extLst>
          </p:cNvPr>
          <p:cNvSpPr txBox="1"/>
          <p:nvPr/>
        </p:nvSpPr>
        <p:spPr>
          <a:xfrm>
            <a:off x="0" y="6610901"/>
            <a:ext cx="43620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_RX_ONC_HIST</a:t>
            </a:r>
          </a:p>
        </p:txBody>
      </p:sp>
    </p:spTree>
    <p:extLst>
      <p:ext uri="{BB962C8B-B14F-4D97-AF65-F5344CB8AC3E}">
        <p14:creationId xmlns:p14="http://schemas.microsoft.com/office/powerpoint/2010/main" val="200928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6DE4-50FF-A459-A4B6-C1B812E9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598C82-B1C4-11DD-8A25-346D50DCF1C5}"/>
              </a:ext>
            </a:extLst>
          </p:cNvPr>
          <p:cNvSpPr txBox="1"/>
          <p:nvPr/>
        </p:nvSpPr>
        <p:spPr>
          <a:xfrm>
            <a:off x="180000" y="54000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ADCs Mx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629349"/>
              </p:ext>
            </p:extLst>
          </p:nvPr>
        </p:nvGraphicFramePr>
        <p:xfrm>
          <a:off x="720000" y="900000"/>
          <a:ext cx="10823944" cy="5341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3D7EDA1-24AE-02EC-2B57-9CE3021EEBE2}"/>
              </a:ext>
            </a:extLst>
          </p:cNvPr>
          <p:cNvSpPr txBox="1"/>
          <p:nvPr/>
        </p:nvSpPr>
        <p:spPr>
          <a:xfrm>
            <a:off x="0" y="6610901"/>
            <a:ext cx="4376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_MX_ONC_HIST</a:t>
            </a:r>
          </a:p>
        </p:txBody>
      </p:sp>
    </p:spTree>
    <p:extLst>
      <p:ext uri="{BB962C8B-B14F-4D97-AF65-F5344CB8AC3E}">
        <p14:creationId xmlns:p14="http://schemas.microsoft.com/office/powerpoint/2010/main" val="112663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456EB7-014D-B21A-9012-E7DCE5D02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ADB8E-7CA2-FB8C-5D0F-E984F9A9E4E1}"/>
              </a:ext>
            </a:extLst>
          </p:cNvPr>
          <p:cNvSpPr txBox="1"/>
          <p:nvPr/>
        </p:nvSpPr>
        <p:spPr>
          <a:xfrm>
            <a:off x="180000" y="54000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CDKs Rx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526530"/>
              </p:ext>
            </p:extLst>
          </p:nvPr>
        </p:nvGraphicFramePr>
        <p:xfrm>
          <a:off x="720000" y="900000"/>
          <a:ext cx="10858856" cy="5277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051EB5D-6DC9-A82B-697C-4CC80CBBE22C}"/>
              </a:ext>
            </a:extLst>
          </p:cNvPr>
          <p:cNvSpPr txBox="1"/>
          <p:nvPr/>
        </p:nvSpPr>
        <p:spPr>
          <a:xfrm>
            <a:off x="0" y="6610901"/>
            <a:ext cx="43620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_RX_ONC_HIST</a:t>
            </a:r>
          </a:p>
        </p:txBody>
      </p:sp>
    </p:spTree>
    <p:extLst>
      <p:ext uri="{BB962C8B-B14F-4D97-AF65-F5344CB8AC3E}">
        <p14:creationId xmlns:p14="http://schemas.microsoft.com/office/powerpoint/2010/main" val="1665206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10F316-B5C9-201C-6176-015DFCE80E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8651D8-550A-F10B-C906-C6BE0694F02B}"/>
              </a:ext>
            </a:extLst>
          </p:cNvPr>
          <p:cNvSpPr txBox="1"/>
          <p:nvPr/>
        </p:nvSpPr>
        <p:spPr>
          <a:xfrm>
            <a:off x="180000" y="54000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Oral 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Chemos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 Rx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445146"/>
              </p:ext>
            </p:extLst>
          </p:nvPr>
        </p:nvGraphicFramePr>
        <p:xfrm>
          <a:off x="720000" y="900000"/>
          <a:ext cx="10784428" cy="53094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D10DCE2-C8BD-297A-AEE9-858CA910EBB4}"/>
              </a:ext>
            </a:extLst>
          </p:cNvPr>
          <p:cNvSpPr txBox="1"/>
          <p:nvPr/>
        </p:nvSpPr>
        <p:spPr>
          <a:xfrm>
            <a:off x="0" y="6610901"/>
            <a:ext cx="43620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_RX_ONC_HIST</a:t>
            </a:r>
          </a:p>
        </p:txBody>
      </p:sp>
    </p:spTree>
    <p:extLst>
      <p:ext uri="{BB962C8B-B14F-4D97-AF65-F5344CB8AC3E}">
        <p14:creationId xmlns:p14="http://schemas.microsoft.com/office/powerpoint/2010/main" val="2357955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3C0621-FFF3-B700-BC1F-8F51B53F6A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420ED-0F36-8932-F06A-4C228FB5212B}"/>
              </a:ext>
            </a:extLst>
          </p:cNvPr>
          <p:cNvSpPr txBox="1"/>
          <p:nvPr/>
        </p:nvSpPr>
        <p:spPr>
          <a:xfrm>
            <a:off x="180000" y="54000"/>
            <a:ext cx="994089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Hormonal Drugs Rx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620986"/>
              </p:ext>
            </p:extLst>
          </p:nvPr>
        </p:nvGraphicFramePr>
        <p:xfrm>
          <a:off x="719999" y="900000"/>
          <a:ext cx="10773795" cy="52670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5883FE8-FD04-2837-6312-5705D8D4EBF5}"/>
              </a:ext>
            </a:extLst>
          </p:cNvPr>
          <p:cNvSpPr txBox="1"/>
          <p:nvPr/>
        </p:nvSpPr>
        <p:spPr>
          <a:xfrm>
            <a:off x="0" y="6610901"/>
            <a:ext cx="43620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_RX_ONC_HIST</a:t>
            </a:r>
          </a:p>
        </p:txBody>
      </p:sp>
    </p:spTree>
    <p:extLst>
      <p:ext uri="{BB962C8B-B14F-4D97-AF65-F5344CB8AC3E}">
        <p14:creationId xmlns:p14="http://schemas.microsoft.com/office/powerpoint/2010/main" val="287345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E062B-24B5-1934-7EBC-AAC2E6411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7B0513-E1A9-4CAE-C461-2661693A50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6E38BF-205D-2ECC-4D8F-CB55E3FAD79A}"/>
              </a:ext>
            </a:extLst>
          </p:cNvPr>
          <p:cNvSpPr txBox="1"/>
          <p:nvPr/>
        </p:nvSpPr>
        <p:spPr>
          <a:xfrm>
            <a:off x="180000" y="54000"/>
            <a:ext cx="1158967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Targeted Agents Drugs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776685"/>
              </p:ext>
            </p:extLst>
          </p:nvPr>
        </p:nvGraphicFramePr>
        <p:xfrm>
          <a:off x="719999" y="899999"/>
          <a:ext cx="10731265" cy="52243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5FACA88-6FAD-24EA-D914-FA08C4735C57}"/>
              </a:ext>
            </a:extLst>
          </p:cNvPr>
          <p:cNvSpPr txBox="1"/>
          <p:nvPr/>
        </p:nvSpPr>
        <p:spPr>
          <a:xfrm>
            <a:off x="0" y="6610901"/>
            <a:ext cx="4376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_MX_ONC_HIST</a:t>
            </a:r>
          </a:p>
        </p:txBody>
      </p:sp>
    </p:spTree>
    <p:extLst>
      <p:ext uri="{BB962C8B-B14F-4D97-AF65-F5344CB8AC3E}">
        <p14:creationId xmlns:p14="http://schemas.microsoft.com/office/powerpoint/2010/main" val="2108796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2B854-B247-C665-365F-3BF35AB1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A480AD-6CED-217F-9D1A-F7A4A37506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C4DC6-7991-94A8-5281-B39F8FA3FCB5}"/>
              </a:ext>
            </a:extLst>
          </p:cNvPr>
          <p:cNvSpPr txBox="1"/>
          <p:nvPr/>
        </p:nvSpPr>
        <p:spPr>
          <a:xfrm>
            <a:off x="180000" y="54000"/>
            <a:ext cx="924767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Chemo Drugs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027145"/>
              </p:ext>
            </p:extLst>
          </p:nvPr>
        </p:nvGraphicFramePr>
        <p:xfrm>
          <a:off x="720000" y="900000"/>
          <a:ext cx="10784428" cy="52349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8887A64-0F93-DADE-6308-02C8ECA52299}"/>
              </a:ext>
            </a:extLst>
          </p:cNvPr>
          <p:cNvSpPr txBox="1"/>
          <p:nvPr/>
        </p:nvSpPr>
        <p:spPr>
          <a:xfrm>
            <a:off x="0" y="6610901"/>
            <a:ext cx="4376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_MX_ONC_HIST</a:t>
            </a:r>
          </a:p>
        </p:txBody>
      </p:sp>
    </p:spTree>
    <p:extLst>
      <p:ext uri="{BB962C8B-B14F-4D97-AF65-F5344CB8AC3E}">
        <p14:creationId xmlns:p14="http://schemas.microsoft.com/office/powerpoint/2010/main" val="2703507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8A84E0-953E-DBF1-1EF9-6D62ED2942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A0EFE-F02C-2A43-1265-04C62FF4E83E}"/>
              </a:ext>
            </a:extLst>
          </p:cNvPr>
          <p:cNvSpPr txBox="1"/>
          <p:nvPr/>
        </p:nvSpPr>
        <p:spPr>
          <a:xfrm>
            <a:off x="180000" y="54000"/>
            <a:ext cx="113485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 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Trodelvy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 Mx 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012856"/>
              </p:ext>
            </p:extLst>
          </p:nvPr>
        </p:nvGraphicFramePr>
        <p:xfrm>
          <a:off x="720000" y="900000"/>
          <a:ext cx="10826779" cy="52881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F93B8B-411D-590E-106D-269165C9E51C}"/>
              </a:ext>
            </a:extLst>
          </p:cNvPr>
          <p:cNvSpPr txBox="1"/>
          <p:nvPr/>
        </p:nvSpPr>
        <p:spPr>
          <a:xfrm>
            <a:off x="0" y="6610901"/>
            <a:ext cx="4376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_MX_ONC_HIST</a:t>
            </a:r>
          </a:p>
        </p:txBody>
      </p:sp>
    </p:spTree>
    <p:extLst>
      <p:ext uri="{BB962C8B-B14F-4D97-AF65-F5344CB8AC3E}">
        <p14:creationId xmlns:p14="http://schemas.microsoft.com/office/powerpoint/2010/main" val="4149166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E6A71-2DEF-6099-89F4-75AEFD4C8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DC3A27-61C8-2D2B-9F5E-7385954491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926C9-33AC-3AF5-33DE-6E436D37F798}"/>
              </a:ext>
            </a:extLst>
          </p:cNvPr>
          <p:cNvSpPr txBox="1"/>
          <p:nvPr/>
        </p:nvSpPr>
        <p:spPr>
          <a:xfrm>
            <a:off x="180000" y="54000"/>
            <a:ext cx="958034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Enhertu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00043"/>
              </p:ext>
            </p:extLst>
          </p:nvPr>
        </p:nvGraphicFramePr>
        <p:xfrm>
          <a:off x="720000" y="900000"/>
          <a:ext cx="10898372" cy="5293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F609497-28F0-2D77-0D7B-66BB677D3BBA}"/>
              </a:ext>
            </a:extLst>
          </p:cNvPr>
          <p:cNvSpPr txBox="1"/>
          <p:nvPr/>
        </p:nvSpPr>
        <p:spPr>
          <a:xfrm>
            <a:off x="0" y="6610901"/>
            <a:ext cx="4376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_MX_ONC_HIST</a:t>
            </a:r>
          </a:p>
        </p:txBody>
      </p:sp>
    </p:spTree>
    <p:extLst>
      <p:ext uri="{BB962C8B-B14F-4D97-AF65-F5344CB8AC3E}">
        <p14:creationId xmlns:p14="http://schemas.microsoft.com/office/powerpoint/2010/main" val="661223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1204-BE0C-326B-79F9-B27D044EF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2BEEF1-FDFE-D499-662F-90BF8F96C4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D467C-DE00-64DF-3FBA-6A1318FCD085}"/>
              </a:ext>
            </a:extLst>
          </p:cNvPr>
          <p:cNvSpPr txBox="1"/>
          <p:nvPr/>
        </p:nvSpPr>
        <p:spPr>
          <a:xfrm>
            <a:off x="180000" y="54000"/>
            <a:ext cx="958034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Dato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440343"/>
              </p:ext>
            </p:extLst>
          </p:nvPr>
        </p:nvGraphicFramePr>
        <p:xfrm>
          <a:off x="720000" y="900000"/>
          <a:ext cx="10940902" cy="5310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220838D-DE73-72B5-F8FD-70FA1EA029AD}"/>
              </a:ext>
            </a:extLst>
          </p:cNvPr>
          <p:cNvSpPr txBox="1"/>
          <p:nvPr/>
        </p:nvSpPr>
        <p:spPr>
          <a:xfrm>
            <a:off x="0" y="6610901"/>
            <a:ext cx="4376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_MX_ONC_HIST</a:t>
            </a:r>
          </a:p>
        </p:txBody>
      </p:sp>
    </p:spTree>
    <p:extLst>
      <p:ext uri="{BB962C8B-B14F-4D97-AF65-F5344CB8AC3E}">
        <p14:creationId xmlns:p14="http://schemas.microsoft.com/office/powerpoint/2010/main" val="2020319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7A30A-F2F5-57B2-B5DF-481589044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4624E8-4414-CCE0-9BF0-854B087E23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BB04E-E9F4-A72A-717B-93DC9F142085}"/>
              </a:ext>
            </a:extLst>
          </p:cNvPr>
          <p:cNvSpPr txBox="1"/>
          <p:nvPr/>
        </p:nvSpPr>
        <p:spPr>
          <a:xfrm>
            <a:off x="180000" y="54000"/>
            <a:ext cx="1114092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TRO Projection Factor (R12M)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03E3AF-AE34-1B2B-D091-8E5B92C12A58}"/>
              </a:ext>
            </a:extLst>
          </p:cNvPr>
          <p:cNvSpPr txBox="1"/>
          <p:nvPr/>
        </p:nvSpPr>
        <p:spPr>
          <a:xfrm>
            <a:off x="0" y="6610901"/>
            <a:ext cx="80265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_MX_ONC_HIST , </a:t>
            </a:r>
            <a:r>
              <a:rPr lang="en-IN" sz="1000" dirty="0">
                <a:solidFill>
                  <a:schemeClr val="tx2">
                    <a:lumMod val="75000"/>
                  </a:schemeClr>
                </a:solidFill>
              </a:rPr>
              <a:t>us-comm-</a:t>
            </a:r>
            <a:r>
              <a:rPr lang="en-IN" sz="1000" dirty="0" err="1">
                <a:solidFill>
                  <a:schemeClr val="tx2">
                    <a:lumMod val="75000"/>
                  </a:schemeClr>
                </a:solidFill>
              </a:rPr>
              <a:t>nda</a:t>
            </a:r>
            <a:r>
              <a:rPr lang="en-IN" sz="1000" dirty="0">
                <a:solidFill>
                  <a:schemeClr val="tx2">
                    <a:lumMod val="75000"/>
                  </a:schemeClr>
                </a:solidFill>
              </a:rPr>
              <a:t>-</a:t>
            </a:r>
            <a:r>
              <a:rPr lang="en-IN" sz="1000" dirty="0" err="1">
                <a:solidFill>
                  <a:schemeClr val="tx2">
                    <a:lumMod val="75000"/>
                  </a:schemeClr>
                </a:solidFill>
              </a:rPr>
              <a:t>ops.NDA_SALES_NSP_MONTHLY_STG_HIST</a:t>
            </a:r>
            <a:endParaRPr lang="en-IN" sz="10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9377D36-B23B-D76B-4A20-BF6DC6C882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8481256"/>
              </p:ext>
            </p:extLst>
          </p:nvPr>
        </p:nvGraphicFramePr>
        <p:xfrm>
          <a:off x="544286" y="827314"/>
          <a:ext cx="11140925" cy="54210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9716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5071B0-2A85-8B3C-91EF-85BAAD1EEB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181E5B-74AD-0BBD-FA7B-9A9D5D6D18EB}"/>
              </a:ext>
            </a:extLst>
          </p:cNvPr>
          <p:cNvSpPr txBox="1"/>
          <p:nvPr/>
        </p:nvSpPr>
        <p:spPr>
          <a:xfrm>
            <a:off x="179999" y="54000"/>
            <a:ext cx="118454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Infusion Drugs Projection Factor 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A58826-CD5D-B547-CE3F-193B1D61EA35}"/>
              </a:ext>
            </a:extLst>
          </p:cNvPr>
          <p:cNvSpPr txBox="1"/>
          <p:nvPr/>
        </p:nvSpPr>
        <p:spPr>
          <a:xfrm>
            <a:off x="0" y="6610901"/>
            <a:ext cx="80265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_MX_ONC_HIST , </a:t>
            </a:r>
            <a:r>
              <a:rPr lang="en-IN" sz="1000" dirty="0">
                <a:solidFill>
                  <a:schemeClr val="tx2">
                    <a:lumMod val="75000"/>
                  </a:schemeClr>
                </a:solidFill>
              </a:rPr>
              <a:t>us-comm-</a:t>
            </a:r>
            <a:r>
              <a:rPr lang="en-IN" sz="1000" dirty="0" err="1">
                <a:solidFill>
                  <a:schemeClr val="tx2">
                    <a:lumMod val="75000"/>
                  </a:schemeClr>
                </a:solidFill>
              </a:rPr>
              <a:t>nda</a:t>
            </a:r>
            <a:r>
              <a:rPr lang="en-IN" sz="1000" dirty="0">
                <a:solidFill>
                  <a:schemeClr val="tx2">
                    <a:lumMod val="75000"/>
                  </a:schemeClr>
                </a:solidFill>
              </a:rPr>
              <a:t>-</a:t>
            </a:r>
            <a:r>
              <a:rPr lang="en-IN" sz="1000" dirty="0" err="1">
                <a:solidFill>
                  <a:schemeClr val="tx2">
                    <a:lumMod val="75000"/>
                  </a:schemeClr>
                </a:solidFill>
              </a:rPr>
              <a:t>ops.NDA_SALES_NSP_MONTHLY_STG_HIST</a:t>
            </a:r>
            <a:endParaRPr lang="en-IN" sz="10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214930F-4372-C9AA-3EC1-1D2414D0E0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9217674"/>
              </p:ext>
            </p:extLst>
          </p:nvPr>
        </p:nvGraphicFramePr>
        <p:xfrm>
          <a:off x="544286" y="827314"/>
          <a:ext cx="11140925" cy="54210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25291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FE2A24-8A9C-2288-0912-743408ACA6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66D83-0A1F-9D2E-6572-67D9B39C5E7D}"/>
              </a:ext>
            </a:extLst>
          </p:cNvPr>
          <p:cNvSpPr txBox="1"/>
          <p:nvPr/>
        </p:nvSpPr>
        <p:spPr>
          <a:xfrm>
            <a:off x="180000" y="54000"/>
            <a:ext cx="115339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</a:t>
            </a:r>
            <a:r>
              <a:rPr lang="en-US" sz="3200" b="1" dirty="0">
                <a:solidFill>
                  <a:schemeClr val="accent1"/>
                </a:solidFill>
                <a:latin typeface="Trebuchet MS"/>
              </a:rPr>
              <a:t> Trend Of Oral Drugs Projection Factor (R12M)</a:t>
            </a:r>
            <a:endParaRPr lang="en-GB" sz="3200" dirty="0">
              <a:solidFill>
                <a:schemeClr val="accent1"/>
              </a:solidFill>
              <a:latin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3A7BF9-8581-AF3F-29D2-CC90927FCCE0}"/>
              </a:ext>
            </a:extLst>
          </p:cNvPr>
          <p:cNvSpPr txBox="1"/>
          <p:nvPr/>
        </p:nvSpPr>
        <p:spPr>
          <a:xfrm>
            <a:off x="0" y="6610901"/>
            <a:ext cx="80121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_RX_ONC_HIST , </a:t>
            </a:r>
            <a:r>
              <a:rPr lang="en-IN" sz="1000" dirty="0">
                <a:solidFill>
                  <a:schemeClr val="tx2">
                    <a:lumMod val="75000"/>
                  </a:schemeClr>
                </a:solidFill>
              </a:rPr>
              <a:t>us-comm-</a:t>
            </a:r>
            <a:r>
              <a:rPr lang="en-IN" sz="1000" dirty="0" err="1">
                <a:solidFill>
                  <a:schemeClr val="tx2">
                    <a:lumMod val="75000"/>
                  </a:schemeClr>
                </a:solidFill>
              </a:rPr>
              <a:t>nda</a:t>
            </a:r>
            <a:r>
              <a:rPr lang="en-IN" sz="1000" dirty="0">
                <a:solidFill>
                  <a:schemeClr val="tx2">
                    <a:lumMod val="75000"/>
                  </a:schemeClr>
                </a:solidFill>
              </a:rPr>
              <a:t>-</a:t>
            </a:r>
            <a:r>
              <a:rPr lang="en-IN" sz="1000" dirty="0" err="1">
                <a:solidFill>
                  <a:schemeClr val="tx2">
                    <a:lumMod val="75000"/>
                  </a:schemeClr>
                </a:solidFill>
              </a:rPr>
              <a:t>ops.NDA_SALES_NSP_MONTHLY_STG_HIST</a:t>
            </a:r>
            <a:endParaRPr lang="en-IN" sz="10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05A1BE2-D6AD-AF2E-6C98-C4172E1A7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2577714"/>
              </p:ext>
            </p:extLst>
          </p:nvPr>
        </p:nvGraphicFramePr>
        <p:xfrm>
          <a:off x="544286" y="827314"/>
          <a:ext cx="11140925" cy="54210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69144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33E2C6-C701-DDC9-1244-047DB3C790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FF264-B9AE-6112-02E2-5A5BA1673D04}"/>
              </a:ext>
            </a:extLst>
          </p:cNvPr>
          <p:cNvSpPr txBox="1"/>
          <p:nvPr/>
        </p:nvSpPr>
        <p:spPr>
          <a:xfrm>
            <a:off x="180000" y="54000"/>
            <a:ext cx="116745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Outlier Analysis Of TRO Mx Claims (Monthly trend)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39218"/>
              </p:ext>
            </p:extLst>
          </p:nvPr>
        </p:nvGraphicFramePr>
        <p:xfrm>
          <a:off x="720000" y="900000"/>
          <a:ext cx="10898372" cy="54308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ECB44FF-C2AC-C7AF-1B62-45FBE7B4831B}"/>
              </a:ext>
            </a:extLst>
          </p:cNvPr>
          <p:cNvSpPr txBox="1"/>
          <p:nvPr/>
        </p:nvSpPr>
        <p:spPr>
          <a:xfrm>
            <a:off x="0" y="6610901"/>
            <a:ext cx="5050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_MX_ONC_HIST</a:t>
            </a:r>
          </a:p>
        </p:txBody>
      </p:sp>
    </p:spTree>
    <p:extLst>
      <p:ext uri="{BB962C8B-B14F-4D97-AF65-F5344CB8AC3E}">
        <p14:creationId xmlns:p14="http://schemas.microsoft.com/office/powerpoint/2010/main" val="3742008083"/>
      </p:ext>
    </p:extLst>
  </p:cSld>
  <p:clrMapOvr>
    <a:masterClrMapping/>
  </p:clrMapOvr>
</p:sld>
</file>

<file path=ppt/theme/theme1.xml><?xml version="1.0" encoding="utf-8"?>
<a:theme xmlns:a="http://schemas.openxmlformats.org/drawingml/2006/main" name="1_Creating Possible">
  <a:themeElements>
    <a:clrScheme name="Custom 19">
      <a:dk1>
        <a:srgbClr val="54565B"/>
      </a:dk1>
      <a:lt1>
        <a:srgbClr val="FFFFFF"/>
      </a:lt1>
      <a:dk2>
        <a:srgbClr val="C50E3C"/>
      </a:dk2>
      <a:lt2>
        <a:srgbClr val="C6CAC6"/>
      </a:lt2>
      <a:accent1>
        <a:srgbClr val="203661"/>
      </a:accent1>
      <a:accent2>
        <a:srgbClr val="3C587F"/>
      </a:accent2>
      <a:accent3>
        <a:srgbClr val="8DC1C5"/>
      </a:accent3>
      <a:accent4>
        <a:srgbClr val="688C38"/>
      </a:accent4>
      <a:accent5>
        <a:srgbClr val="AEB618"/>
      </a:accent5>
      <a:accent6>
        <a:srgbClr val="000000"/>
      </a:accent6>
      <a:hlink>
        <a:srgbClr val="3A6C8A"/>
      </a:hlink>
      <a:folHlink>
        <a:srgbClr val="8F7F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dfbcd4e-0d6e-4414-853a-02f7dc9ae2ad">
      <Terms xmlns="http://schemas.microsoft.com/office/infopath/2007/PartnerControls"/>
    </lcf76f155ced4ddcb4097134ff3c332f>
    <TaxCatchAll xmlns="1763e1e5-1f9e-4d64-9801-eea52128ce9f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AFB58FA9F2D24F9423A050CE645B92" ma:contentTypeVersion="19" ma:contentTypeDescription="Create a new document." ma:contentTypeScope="" ma:versionID="4367b7e0178fd4178f450700168654d1">
  <xsd:schema xmlns:xsd="http://www.w3.org/2001/XMLSchema" xmlns:xs="http://www.w3.org/2001/XMLSchema" xmlns:p="http://schemas.microsoft.com/office/2006/metadata/properties" xmlns:ns1="http://schemas.microsoft.com/sharepoint/v3" xmlns:ns2="3dfbcd4e-0d6e-4414-853a-02f7dc9ae2ad" xmlns:ns3="1763e1e5-1f9e-4d64-9801-eea52128ce9f" targetNamespace="http://schemas.microsoft.com/office/2006/metadata/properties" ma:root="true" ma:fieldsID="5adfbc94da2f061afab9ea70373239b1" ns1:_="" ns2:_="" ns3:_="">
    <xsd:import namespace="http://schemas.microsoft.com/sharepoint/v3"/>
    <xsd:import namespace="3dfbcd4e-0d6e-4414-853a-02f7dc9ae2ad"/>
    <xsd:import namespace="1763e1e5-1f9e-4d64-9801-eea52128ce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fbcd4e-0d6e-4414-853a-02f7dc9ae2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59aaaf-67c2-4a9b-8dae-6c62ae0ca4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63e1e5-1f9e-4d64-9801-eea52128ce9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149961a-0a76-4c5e-9277-ec59576407b3}" ma:internalName="TaxCatchAll" ma:showField="CatchAllData" ma:web="1763e1e5-1f9e-4d64-9801-eea52128ce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89AD33E-732B-47E0-908F-D3AE784479C8}">
  <ds:schemaRefs>
    <ds:schemaRef ds:uri="1763e1e5-1f9e-4d64-9801-eea52128ce9f"/>
    <ds:schemaRef ds:uri="3dfbcd4e-0d6e-4414-853a-02f7dc9ae2a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5BF7640-923D-457F-AF43-935957F2ACCA}">
  <ds:schemaRefs>
    <ds:schemaRef ds:uri="1763e1e5-1f9e-4d64-9801-eea52128ce9f"/>
    <ds:schemaRef ds:uri="3dfbcd4e-0d6e-4414-853a-02f7dc9ae2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295AA52-3796-4541-9BB4-73AAE38280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2899</TotalTime>
  <Words>837</Words>
  <Application>Microsoft Macintosh PowerPoint</Application>
  <PresentationFormat>Widescreen</PresentationFormat>
  <Paragraphs>87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Trebuchet MS</vt:lpstr>
      <vt:lpstr>Noto Sans Symbols</vt:lpstr>
      <vt:lpstr>Calibri</vt:lpstr>
      <vt:lpstr>Arial Black</vt:lpstr>
      <vt:lpstr>Proxima Nova</vt:lpstr>
      <vt:lpstr>Arial</vt:lpstr>
      <vt:lpstr>Arial,Sans-Serif</vt:lpstr>
      <vt:lpstr>1_Creating Possible</vt:lpstr>
      <vt:lpstr>Monthly Data Health Check Report 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C3PO Modules – Structured Data</dc:title>
  <dc:creator>Brian Scott</dc:creator>
  <cp:lastModifiedBy>Shashi Vemula</cp:lastModifiedBy>
  <cp:revision>51</cp:revision>
  <dcterms:created xsi:type="dcterms:W3CDTF">2021-05-05T00:34:42Z</dcterms:created>
  <dcterms:modified xsi:type="dcterms:W3CDTF">2025-12-24T06:44:40Z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0x0101004EAFB58FA9F2D24F9423A050CE645B92</vt:lpwstr>
  </property>
  <property fmtid="{D5CDD505-2E9C-101B-9397-08002B2CF9AE}" pid="3" name="MSIP_Label_16de74a9-4f8a-4c74-b507-22417e17d25b_Method">
    <vt:lpwstr>Privileged</vt:lpwstr>
  </property>
  <property fmtid="{D5CDD505-2E9C-101B-9397-08002B2CF9AE}" pid="4" name="MSIP_Label_16de74a9-4f8a-4c74-b507-22417e17d25b_ContentBits">
    <vt:lpwstr>0</vt:lpwstr>
  </property>
  <property fmtid="{D5CDD505-2E9C-101B-9397-08002B2CF9AE}" pid="5" name="MSIP_Label_16de74a9-4f8a-4c74-b507-22417e17d25b_SetDate">
    <vt:lpwstr>2023-12-11T05:06:21Z</vt:lpwstr>
  </property>
  <property fmtid="{D5CDD505-2E9C-101B-9397-08002B2CF9AE}" pid="6" name="MSIP_Label_16de74a9-4f8a-4c74-b507-22417e17d25b_ActionId">
    <vt:lpwstr>034c4096-7886-488d-8374-9ac868763a7f</vt:lpwstr>
  </property>
  <property fmtid="{D5CDD505-2E9C-101B-9397-08002B2CF9AE}" pid="7" name="MSIP_Label_16de74a9-4f8a-4c74-b507-22417e17d25b_Enabled">
    <vt:lpwstr>true</vt:lpwstr>
  </property>
  <property fmtid="{D5CDD505-2E9C-101B-9397-08002B2CF9AE}" pid="8" name="MSIP_Label_16de74a9-4f8a-4c74-b507-22417e17d25b_SiteId">
    <vt:lpwstr>a5a8bcaa-3292-41e6-b735-5e8b21f4dbfd</vt:lpwstr>
  </property>
  <property fmtid="{D5CDD505-2E9C-101B-9397-08002B2CF9AE}" pid="9" name="MSIP_Label_16de74a9-4f8a-4c74-b507-22417e17d25b_Name">
    <vt:lpwstr>16de74a9-4f8a-4c74-b507-22417e17d25b</vt:lpwstr>
  </property>
  <property fmtid="{D5CDD505-2E9C-101B-9397-08002B2CF9AE}" pid="10" name="MediaServiceImageTags">
    <vt:lpwstr/>
  </property>
</Properties>
</file>